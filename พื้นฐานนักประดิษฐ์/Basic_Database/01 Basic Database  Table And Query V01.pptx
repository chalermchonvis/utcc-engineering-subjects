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1" r:id="rId2"/>
    <p:sldId id="292" r:id="rId3"/>
    <p:sldId id="263" r:id="rId4"/>
    <p:sldId id="275" r:id="rId5"/>
    <p:sldId id="289" r:id="rId6"/>
    <p:sldId id="288" r:id="rId7"/>
    <p:sldId id="290" r:id="rId8"/>
    <p:sldId id="307" r:id="rId9"/>
    <p:sldId id="589" r:id="rId10"/>
    <p:sldId id="597" r:id="rId11"/>
    <p:sldId id="590" r:id="rId12"/>
    <p:sldId id="308" r:id="rId13"/>
    <p:sldId id="293" r:id="rId14"/>
    <p:sldId id="598" r:id="rId15"/>
    <p:sldId id="294" r:id="rId16"/>
    <p:sldId id="286" r:id="rId17"/>
    <p:sldId id="295" r:id="rId18"/>
    <p:sldId id="296" r:id="rId19"/>
    <p:sldId id="298" r:id="rId20"/>
    <p:sldId id="300" r:id="rId21"/>
    <p:sldId id="302" r:id="rId22"/>
    <p:sldId id="606" r:id="rId23"/>
    <p:sldId id="604" r:id="rId24"/>
    <p:sldId id="608" r:id="rId25"/>
    <p:sldId id="607" r:id="rId26"/>
    <p:sldId id="605" r:id="rId27"/>
    <p:sldId id="301" r:id="rId28"/>
    <p:sldId id="600" r:id="rId29"/>
    <p:sldId id="601" r:id="rId30"/>
    <p:sldId id="6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86" autoAdjust="0"/>
    <p:restoredTop sz="94272" autoAdjust="0"/>
  </p:normalViewPr>
  <p:slideViewPr>
    <p:cSldViewPr snapToGrid="0">
      <p:cViewPr varScale="1">
        <p:scale>
          <a:sx n="81" d="100"/>
          <a:sy n="81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59F4-73A8-4ADC-8820-CD47922B2C6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4DAD6-037C-41F8-881C-B5B1D8DFD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6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34DAD6-037C-41F8-881C-B5B1D8DFD3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26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60C3C-9177-4378-8BF1-9F6CC9EA0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A8F32-7109-4691-8CEC-701927E34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BFDFA-9A39-48BE-BD2B-91C54400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6020A-C323-474C-9563-47C29896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30B48-AFB8-4766-8DB4-47D29126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1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F5C3-6BCA-4B7C-91FE-DF75AF13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8405D-3F1E-4033-8CCF-4E56D312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7B0F8-A73C-435F-89A5-8514FD10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0B8BB-4A51-4FBE-862B-343B2560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33414-D941-46A7-B139-35AA6B1F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C370-AA4D-4D4A-9101-D591520A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E8764-CE41-432F-9F7F-46C76C8A4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25940-22A9-42A3-9F18-9FC91B57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1AFF3-7E40-46FB-BE6F-9138B8B2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35304-B29E-485C-AE53-2AFC3343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7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90F5-EF33-4368-8765-3EBC2363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9290-1731-407D-A0FE-18EDF6AFC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71D60-A549-4BAB-AC28-2B10C1E88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A9518-124D-46D8-9DFB-F035174F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D21E9-D393-4817-936D-804B513A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20CD9-37B0-4A4D-A25A-518A2917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8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C57E-7799-4EB5-AB66-7804E523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75BB0-5D26-4B5B-90F0-BE826A0BB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994FD-1E8D-46B6-87E7-F81CDF5C8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DDE0A-F99F-487E-AF93-34EC32A71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EA46A6-5B6C-4EBB-9087-F6BA65815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3BE53-AC03-44B8-B499-855AE0E6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7F719-7EFF-4A9E-B01E-1D668307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71817-EAA7-4855-951C-62646F5E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2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6A09-839C-4213-8019-6C7783FF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0DF87-498C-4B84-83B8-AC3EA2F7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04A03-A4DA-477A-9211-FE51338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4B758-F9C0-490D-8AA3-26B7E9A5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3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C40C6-8F5A-4A7B-9A70-9FFCD622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6B433-891F-44FE-B069-FCEAA208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CFB7D-5665-4FB0-8EB0-5943AB99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C6D3-12C8-447E-9D59-462CF8F2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2D1D-7305-470A-85F9-5AE1841DA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15156-531E-4DD9-BA38-BB22A8198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CF24A-725E-4EB8-9688-AD2D5BACF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3CAC0-99F1-42EE-B85E-226185F3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7B06D-8C8D-43AF-9A57-08BC11C4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5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30DD-E149-41BC-AFD1-C7B07944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914F5-C6B6-473C-B940-DFBCC7308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7B744-6348-46CE-A209-869A3D6A8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6524-5A94-44B6-8295-F6665F1C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B457B-8FA6-401C-BB73-3C5049CC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D0BE0-7C1D-4887-A632-990D882A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7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FB40-5F5C-4047-9399-D67AFEBC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4F64C-CC65-4703-B4D5-D8E3DC2AE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7220B-3CC6-4104-866A-301D245F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1D38A-03EA-45DF-AC3B-30EC4EED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48D4-3A18-476B-BB14-5EAEE800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4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3D4A8-BBF8-433D-8F89-1668A51C2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ECBD3-D2B8-4726-A0CE-53E736FE7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AE2D3-C76E-4190-ADF0-FEB32F93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639C8-8666-4A48-B675-F441501D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33FEB-AB28-4CD1-BBFD-C194B13C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23882-9354-473A-8C1F-573B8330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AAA27-0026-4A71-B2CE-A66D3CF9D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E3301-DDF5-4262-80A9-0927E2816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2B3F9-DA4E-4367-988C-CCAAD7227A1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48449-E16D-4F46-A801-DD7F47F1C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61880-FE9B-4CC1-B33B-E7B4B8DEC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Libre+Barcode+3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0.jpeg"/><Relationship Id="rId7" Type="http://schemas.openxmlformats.org/officeDocument/2006/relationships/image" Target="../media/image26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hyperlink" Target="https://www.cst.co.th/%E0%B8%AD%E0%B8%B8%E0%B8%9B%E0%B8%81%E0%B8%A3%E0%B8%93%E0%B9%8C%E0%B8%97%E0%B8%94%E0%B8%AA%E0%B8%AD%E0%B8%9A%E0%B8%94%E0%B8%B4%E0%B8%99%E0%B9%81%E0%B8%A5%E0%B8%B0%E0%B8%84%E0%B8%AD%E0%B8%99%E0%B8%81%E0%B8%A3%E0%B8%B5%E0%B8%95/%E0%B9%80%E0%B8%84%E0%B8%A3%E0%B8%B7%E0%B9%88%E0%B8%AD%E0%B8%87%E0%B8%8A%E0%B9%88%E0%B8%B2%E0%B8%87%E0%B8%94%E0%B8%B4%E0%B8%88%E0%B8%B4%E0%B8%95%E0%B8%AD%E0%B8%A5-CST-CDR-3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sql_select.asp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5.png"/><Relationship Id="rId7" Type="http://schemas.openxmlformats.org/officeDocument/2006/relationships/image" Target="../media/image4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892E235D-3AD8-466D-8D5D-4B634A9E6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2150" y="2669382"/>
            <a:ext cx="8748712" cy="1976436"/>
          </a:xfrm>
        </p:spPr>
        <p:txBody>
          <a:bodyPr>
            <a:normAutofit/>
          </a:bodyPr>
          <a:lstStyle/>
          <a:p>
            <a:r>
              <a:rPr lang="en-US" altLang="en-US" sz="3900" b="1" dirty="0"/>
              <a:t>NG160,NG109  </a:t>
            </a:r>
            <a:r>
              <a:rPr lang="th-TH" altLang="en-US" sz="3900" b="1" dirty="0"/>
              <a:t>พื้นฐานนักประดิษฐ์</a:t>
            </a:r>
            <a:endParaRPr lang="th-TH" altLang="en-US" sz="4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1D705-F724-2B40-69A2-A7480A656AAD}"/>
              </a:ext>
            </a:extLst>
          </p:cNvPr>
          <p:cNvSpPr txBox="1"/>
          <p:nvPr/>
        </p:nvSpPr>
        <p:spPr>
          <a:xfrm>
            <a:off x="1019175" y="412818"/>
            <a:ext cx="9844087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48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4800" dirty="0">
                <a:solidFill>
                  <a:srgbClr val="C00000"/>
                </a:solidFill>
              </a:rPr>
              <a:t> </a:t>
            </a:r>
            <a:r>
              <a:rPr lang="en-US" sz="4800" dirty="0" err="1">
                <a:solidFill>
                  <a:srgbClr val="C00000"/>
                </a:solidFill>
              </a:rPr>
              <a:t>มหาวิทยาลัยหอการค้าไทย</a:t>
            </a:r>
            <a:endParaRPr lang="th-TH" sz="4800" dirty="0">
              <a:solidFill>
                <a:srgbClr val="C00000"/>
              </a:solidFill>
            </a:endParaRPr>
          </a:p>
          <a:p>
            <a:pPr algn="ctr"/>
            <a:r>
              <a:rPr lang="th-TH" sz="48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6A686-8A72-306D-CDA4-2AE753A0921A}"/>
              </a:ext>
            </a:extLst>
          </p:cNvPr>
          <p:cNvSpPr txBox="1"/>
          <p:nvPr/>
        </p:nvSpPr>
        <p:spPr>
          <a:xfrm>
            <a:off x="2893218" y="601145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  <a:spcAft>
                <a:spcPts val="225"/>
              </a:spcAft>
            </a:pPr>
            <a:r>
              <a:rPr lang="en-US" sz="3200" b="0" i="0" u="none" strike="noStrike" dirty="0">
                <a:effectLst/>
                <a:latin typeface="Arial" panose="020B0604020202020204" pitchFamily="34" charset="0"/>
                <a:hlinkClick r:id="rId3"/>
              </a:rPr>
              <a:t>Libre Barcode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838C8671-E3DF-41D1-A93C-669E72DA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3495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40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6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endParaRPr lang="th-TH" altLang="en-US" b="1"/>
          </a:p>
        </p:txBody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B07A30E1-1191-4073-AC50-D4443BD9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6921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endParaRPr lang="th-TH" altLang="en-US"/>
          </a:p>
        </p:txBody>
      </p:sp>
      <p:sp>
        <p:nvSpPr>
          <p:cNvPr id="22534" name="Rectangle 1030">
            <a:extLst>
              <a:ext uri="{FF2B5EF4-FFF2-40B4-BE49-F238E27FC236}">
                <a16:creationId xmlns:a16="http://schemas.microsoft.com/office/drawing/2014/main" id="{8B304909-D52F-4624-A9CA-EF4D553C5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z="4800"/>
              <a:t>จุดประสงค์ในการออกแบบฐานข้อมูล</a:t>
            </a:r>
          </a:p>
        </p:txBody>
      </p:sp>
      <p:sp>
        <p:nvSpPr>
          <p:cNvPr id="22535" name="Rectangle 1031">
            <a:extLst>
              <a:ext uri="{FF2B5EF4-FFF2-40B4-BE49-F238E27FC236}">
                <a16:creationId xmlns:a16="http://schemas.microsoft.com/office/drawing/2014/main" id="{8F7811D3-EAE2-4F89-AD5E-54ABFF98A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altLang="en-US" sz="3600" b="1" dirty="0"/>
              <a:t>ลดความซ้ำซ้อนของข้อมูล ลดความผิดพลาดในการกรอกข้อมูล</a:t>
            </a:r>
          </a:p>
          <a:p>
            <a:r>
              <a:rPr lang="th-TH" altLang="en-US" sz="3600" b="1" dirty="0"/>
              <a:t>เพื่อความรวดเร็วในการ เพิ่ม แก้ไข ลบและ ค้นหาข้อมูล</a:t>
            </a:r>
          </a:p>
          <a:p>
            <a:r>
              <a:rPr lang="th-TH" altLang="en-US" sz="3600" b="1" dirty="0"/>
              <a:t>เพื่อความถูกต้องและน่าเชื่อถือของข้อมูล </a:t>
            </a:r>
          </a:p>
          <a:p>
            <a:r>
              <a:rPr lang="th-TH" altLang="en-US" sz="3600" b="1" dirty="0"/>
              <a:t>เพื่อสามารถกำหนดความปลอดภัยในการใช้งานร่วมกัน</a:t>
            </a:r>
          </a:p>
          <a:p>
            <a:r>
              <a:rPr lang="th-TH" altLang="en-US" sz="3600" b="1" dirty="0"/>
              <a:t>ข้อมูลที่จัดเก็บต้องเป็นอิสระต่อการใช้งานร่วมกัน</a:t>
            </a:r>
          </a:p>
          <a:p>
            <a:endParaRPr lang="th-TH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DBC30-4B0D-1BD7-C77F-1656FD80E8A0}"/>
              </a:ext>
            </a:extLst>
          </p:cNvPr>
          <p:cNvSpPr txBox="1"/>
          <p:nvPr/>
        </p:nvSpPr>
        <p:spPr>
          <a:xfrm>
            <a:off x="6305550" y="6378575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>
            <a:extLst>
              <a:ext uri="{FF2B5EF4-FFF2-40B4-BE49-F238E27FC236}">
                <a16:creationId xmlns:a16="http://schemas.microsoft.com/office/drawing/2014/main" id="{9E0957ED-0503-49E8-A56A-D9E62810B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13772"/>
            <a:ext cx="9144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Table  (ตาราง)</a:t>
            </a:r>
            <a:r>
              <a:rPr lang="en-US" altLang="en-US" sz="3200" dirty="0">
                <a:latin typeface="Angsana New" panose="02020603050405020304" pitchFamily="18" charset="-34"/>
              </a:rPr>
              <a:t> 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th-TH" altLang="en-US" sz="2800" dirty="0">
                <a:latin typeface="Angsana New" panose="02020603050405020304" pitchFamily="18" charset="-34"/>
              </a:rPr>
              <a:t> แหล่งเก็บข้อมูลข้อความ ภาพ เสียง ฯลฯ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Query (ตารางเสมือน)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en-US" altLang="en-US" sz="2800" dirty="0" err="1">
                <a:latin typeface="Angsana New" panose="02020603050405020304" pitchFamily="18" charset="-34"/>
              </a:rPr>
              <a:t>การ</a:t>
            </a:r>
            <a:r>
              <a:rPr lang="th-TH" altLang="en-US" sz="2800" dirty="0">
                <a:latin typeface="Angsana New" panose="02020603050405020304" pitchFamily="18" charset="-34"/>
              </a:rPr>
              <a:t>เชื่อมตาราง แสดงข้อมูลโดยกำหนดเงื่อนไข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Form (แบบฟอร์ม)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th-TH" altLang="en-US" sz="2800" dirty="0">
                <a:latin typeface="Angsana New" panose="02020603050405020304" pitchFamily="18" charset="-34"/>
              </a:rPr>
              <a:t>ส่วนติดต่อกับผู้ใช้ กรอก แสดง แก้ไขข้อมูลจากตารางหรือตารางเสมือน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Report (รายงาน)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th-TH" altLang="en-US" sz="2800" dirty="0">
                <a:latin typeface="Angsana New" panose="02020603050405020304" pitchFamily="18" charset="-34"/>
              </a:rPr>
              <a:t>แสดงข้อมูลจากตาราง ตารางเสมือน หรือแบบฟอร์มทางเครื่องพิมพ์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Macro </a:t>
            </a:r>
            <a:r>
              <a:rPr lang="en-US" altLang="en-US" sz="3200" dirty="0">
                <a:latin typeface="Angsana New" panose="02020603050405020304" pitchFamily="18" charset="-34"/>
              </a:rPr>
              <a:t>(</a:t>
            </a:r>
            <a:r>
              <a:rPr lang="th-TH" altLang="en-US" sz="3200" dirty="0">
                <a:latin typeface="Angsana New" panose="02020603050405020304" pitchFamily="18" charset="-34"/>
              </a:rPr>
              <a:t>ชุดคำสั่ง)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en-US" altLang="en-US" sz="2800" dirty="0" err="1">
                <a:latin typeface="Angsana New" panose="02020603050405020304" pitchFamily="18" charset="-34"/>
              </a:rPr>
              <a:t>สร้างคำสั่งการทำงานที่ใช้งานซ้ำ</a:t>
            </a:r>
            <a:r>
              <a:rPr lang="en-US" altLang="en-US" sz="2800" dirty="0">
                <a:latin typeface="Angsana New" panose="02020603050405020304" pitchFamily="18" charset="-34"/>
              </a:rPr>
              <a:t> ๆ</a:t>
            </a:r>
            <a:endParaRPr lang="th-TH" altLang="en-US" sz="2800" dirty="0">
              <a:latin typeface="Angsana New" panose="02020603050405020304" pitchFamily="18" charset="-34"/>
            </a:endParaRP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Module (โปรแกรมย่อย)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 Visual Basic For Application (VBA)</a:t>
            </a:r>
            <a:endParaRPr lang="th-TH" altLang="en-US" sz="2800" dirty="0">
              <a:latin typeface="Angsana New" panose="02020603050405020304" pitchFamily="18" charset="-34"/>
            </a:endParaRPr>
          </a:p>
        </p:txBody>
      </p:sp>
      <p:grpSp>
        <p:nvGrpSpPr>
          <p:cNvPr id="8211" name="Group 19">
            <a:extLst>
              <a:ext uri="{FF2B5EF4-FFF2-40B4-BE49-F238E27FC236}">
                <a16:creationId xmlns:a16="http://schemas.microsoft.com/office/drawing/2014/main" id="{0779416E-3FEF-45F7-8483-31D054627573}"/>
              </a:ext>
            </a:extLst>
          </p:cNvPr>
          <p:cNvGrpSpPr>
            <a:grpSpLocks/>
          </p:cNvGrpSpPr>
          <p:nvPr/>
        </p:nvGrpSpPr>
        <p:grpSpPr bwMode="auto">
          <a:xfrm>
            <a:off x="4676775" y="735648"/>
            <a:ext cx="4648200" cy="2760663"/>
            <a:chOff x="2832" y="346"/>
            <a:chExt cx="2928" cy="1739"/>
          </a:xfrm>
        </p:grpSpPr>
        <p:pic>
          <p:nvPicPr>
            <p:cNvPr id="8197" name="Picture 5">
              <a:extLst>
                <a:ext uri="{FF2B5EF4-FFF2-40B4-BE49-F238E27FC236}">
                  <a16:creationId xmlns:a16="http://schemas.microsoft.com/office/drawing/2014/main" id="{329B2860-17C3-44EA-833F-A0CA97CEB7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76" r="3078"/>
            <a:stretch>
              <a:fillRect/>
            </a:stretch>
          </p:blipFill>
          <p:spPr bwMode="auto">
            <a:xfrm>
              <a:off x="2832" y="346"/>
              <a:ext cx="2928" cy="17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98" name="Line 6">
              <a:extLst>
                <a:ext uri="{FF2B5EF4-FFF2-40B4-BE49-F238E27FC236}">
                  <a16:creationId xmlns:a16="http://schemas.microsoft.com/office/drawing/2014/main" id="{41DE6275-0A5E-4EEE-B670-3A8D82CAF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" y="1162"/>
              <a:ext cx="432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9" name="Line 7">
              <a:extLst>
                <a:ext uri="{FF2B5EF4-FFF2-40B4-BE49-F238E27FC236}">
                  <a16:creationId xmlns:a16="http://schemas.microsoft.com/office/drawing/2014/main" id="{3A2C9C96-FA24-4A8A-B8D5-9C4B01760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16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Line 9">
              <a:extLst>
                <a:ext uri="{FF2B5EF4-FFF2-40B4-BE49-F238E27FC236}">
                  <a16:creationId xmlns:a16="http://schemas.microsoft.com/office/drawing/2014/main" id="{C3C008D0-84B2-4FF0-8DF0-01CEA230F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538"/>
              <a:ext cx="864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Line 10">
              <a:extLst>
                <a:ext uri="{FF2B5EF4-FFF2-40B4-BE49-F238E27FC236}">
                  <a16:creationId xmlns:a16="http://schemas.microsoft.com/office/drawing/2014/main" id="{322FFE9D-920E-4555-9575-FB227492E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538"/>
              <a:ext cx="0" cy="52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Line 11">
              <a:extLst>
                <a:ext uri="{FF2B5EF4-FFF2-40B4-BE49-F238E27FC236}">
                  <a16:creationId xmlns:a16="http://schemas.microsoft.com/office/drawing/2014/main" id="{30FE426B-DFA6-4610-AE10-A6EC4B31B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53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Line 15">
              <a:extLst>
                <a:ext uri="{FF2B5EF4-FFF2-40B4-BE49-F238E27FC236}">
                  <a16:creationId xmlns:a16="http://schemas.microsoft.com/office/drawing/2014/main" id="{5E8AB20B-8CB7-405A-86A6-12DD6ABC3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527"/>
              <a:ext cx="864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16">
              <a:extLst>
                <a:ext uri="{FF2B5EF4-FFF2-40B4-BE49-F238E27FC236}">
                  <a16:creationId xmlns:a16="http://schemas.microsoft.com/office/drawing/2014/main" id="{FF21E1BE-8B20-481E-AE50-DA1D62248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527"/>
              <a:ext cx="0" cy="52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Line 17">
              <a:extLst>
                <a:ext uri="{FF2B5EF4-FFF2-40B4-BE49-F238E27FC236}">
                  <a16:creationId xmlns:a16="http://schemas.microsoft.com/office/drawing/2014/main" id="{45ECB477-4700-456D-8D69-145D9CAD9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70" y="1162"/>
              <a:ext cx="453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18">
              <a:extLst>
                <a:ext uri="{FF2B5EF4-FFF2-40B4-BE49-F238E27FC236}">
                  <a16:creationId xmlns:a16="http://schemas.microsoft.com/office/drawing/2014/main" id="{CCD46871-E00C-4E1F-9F74-240E2BAAB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663"/>
              <a:ext cx="0" cy="40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AE64F2A-D8C2-4A16-8BE8-A0FB236AD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" y="2922499"/>
            <a:ext cx="2286319" cy="3610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52337-D130-4389-A944-2115AA5BB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722" y="1325903"/>
            <a:ext cx="545699" cy="420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5AA9A-BCEF-4BD8-AA50-459FC4727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9546" y="1357948"/>
            <a:ext cx="500063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950F63-AE18-43BB-AF4B-900A6BE68C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834" y="1387877"/>
            <a:ext cx="511174" cy="473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719E71-4B66-4A74-9E00-BEEA5C22B7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333" y="1416686"/>
            <a:ext cx="513978" cy="4187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88DBC10-81FB-4961-B737-9B9763228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6" y="635657"/>
            <a:ext cx="1729226" cy="178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5D03D8-C59C-C4D6-0B1C-C7C0938A57D2}"/>
              </a:ext>
            </a:extLst>
          </p:cNvPr>
          <p:cNvSpPr txBox="1"/>
          <p:nvPr/>
        </p:nvSpPr>
        <p:spPr>
          <a:xfrm>
            <a:off x="6305550" y="6378575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92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78C69E-4A08-4DF0-999E-C477B387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74" y="4737752"/>
            <a:ext cx="7783011" cy="1686160"/>
          </a:xfrm>
          <a:prstGeom prst="rect">
            <a:avLst/>
          </a:prstGeom>
        </p:spPr>
      </p:pic>
      <p:sp>
        <p:nvSpPr>
          <p:cNvPr id="29698" name="Text Box 2">
            <a:extLst>
              <a:ext uri="{FF2B5EF4-FFF2-40B4-BE49-F238E27FC236}">
                <a16:creationId xmlns:a16="http://schemas.microsoft.com/office/drawing/2014/main" id="{8F752AE5-C849-4F34-85C7-A94C36CFE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18" y="167555"/>
            <a:ext cx="556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h-TH" altLang="en-US" sz="3600" b="1" dirty="0">
                <a:latin typeface="Angsana New" panose="02020603050405020304" pitchFamily="18" charset="-34"/>
              </a:rPr>
              <a:t>การสร้างตาราง (Table)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1DAF2378-F2CD-46BF-BDAC-E3D4E298B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" y="918579"/>
            <a:ext cx="21336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th-TH" altLang="en-US" sz="2800" dirty="0">
                <a:latin typeface="Angsana New" panose="02020603050405020304" pitchFamily="18" charset="-34"/>
              </a:rPr>
              <a:t>ฟิลด์ </a:t>
            </a:r>
            <a:r>
              <a:rPr lang="en-US" altLang="en-US" sz="2800" dirty="0">
                <a:latin typeface="Angsana New" panose="02020603050405020304" pitchFamily="18" charset="-34"/>
              </a:rPr>
              <a:t>Field</a:t>
            </a:r>
            <a:endParaRPr lang="th-TH" altLang="en-US" sz="2800" dirty="0">
              <a:latin typeface="Angsana New" panose="02020603050405020304" pitchFamily="18" charset="-34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th-TH" altLang="en-US" sz="2800" dirty="0">
                <a:latin typeface="Angsana New" panose="02020603050405020304" pitchFamily="18" charset="-34"/>
              </a:rPr>
              <a:t>เรครอด์ Record</a:t>
            </a: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583F81D7-EDA8-4DFE-A667-CB750AA30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4379" y="3773730"/>
            <a:ext cx="1371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h-TH" altLang="en-US" sz="2800" dirty="0">
                <a:solidFill>
                  <a:srgbClr val="0070C0"/>
                </a:solidFill>
                <a:latin typeface="Angsana New" panose="02020603050405020304" pitchFamily="18" charset="-34"/>
              </a:rPr>
              <a:t>ฟิลด์ </a:t>
            </a:r>
            <a:r>
              <a:rPr lang="en-US" altLang="en-US" sz="2800" dirty="0">
                <a:solidFill>
                  <a:srgbClr val="0070C0"/>
                </a:solidFill>
                <a:latin typeface="Angsana New" panose="02020603050405020304" pitchFamily="18" charset="-34"/>
              </a:rPr>
              <a:t>Field </a:t>
            </a:r>
            <a:r>
              <a:rPr lang="th-TH" altLang="en-US" sz="2800" dirty="0">
                <a:solidFill>
                  <a:srgbClr val="0070C0"/>
                </a:solidFill>
                <a:latin typeface="Angsana New" panose="02020603050405020304" pitchFamily="18" charset="-34"/>
              </a:rPr>
              <a:t> คอล์มข้อมูล</a:t>
            </a:r>
          </a:p>
        </p:txBody>
      </p: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ADB879ED-143A-4F7B-8578-29825E9A7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5432282"/>
            <a:ext cx="8516295" cy="2430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9" name="Line 13">
            <a:extLst>
              <a:ext uri="{FF2B5EF4-FFF2-40B4-BE49-F238E27FC236}">
                <a16:creationId xmlns:a16="http://schemas.microsoft.com/office/drawing/2014/main" id="{C6AB8601-5D5D-4D62-8811-A01CDF6D9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9760" y="6650937"/>
            <a:ext cx="375920" cy="61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Text Box 14">
            <a:extLst>
              <a:ext uri="{FF2B5EF4-FFF2-40B4-BE49-F238E27FC236}">
                <a16:creationId xmlns:a16="http://schemas.microsoft.com/office/drawing/2014/main" id="{03CF1622-D2A2-4AFB-920F-5B60EC46C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6375" y="5321275"/>
            <a:ext cx="2209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th-TH" altLang="en-US" sz="2800" dirty="0">
                <a:solidFill>
                  <a:srgbClr val="C00000"/>
                </a:solidFill>
                <a:latin typeface="Angsana New" panose="02020603050405020304" pitchFamily="18" charset="-34"/>
              </a:rPr>
              <a:t>เรครอด์ Record</a:t>
            </a:r>
            <a:br>
              <a:rPr lang="th-TH" altLang="en-US" sz="2800" dirty="0">
                <a:solidFill>
                  <a:srgbClr val="C00000"/>
                </a:solidFill>
                <a:latin typeface="Angsana New" panose="02020603050405020304" pitchFamily="18" charset="-34"/>
              </a:rPr>
            </a:br>
            <a:r>
              <a:rPr lang="th-TH" altLang="en-US" sz="2800" dirty="0">
                <a:solidFill>
                  <a:srgbClr val="C00000"/>
                </a:solidFill>
                <a:latin typeface="Angsana New" panose="02020603050405020304" pitchFamily="18" charset="-34"/>
              </a:rPr>
              <a:t>  บรรทัดข้อมูล</a:t>
            </a:r>
          </a:p>
        </p:txBody>
      </p:sp>
      <p:sp>
        <p:nvSpPr>
          <p:cNvPr id="29711" name="Text Box 15">
            <a:extLst>
              <a:ext uri="{FF2B5EF4-FFF2-40B4-BE49-F238E27FC236}">
                <a16:creationId xmlns:a16="http://schemas.microsoft.com/office/drawing/2014/main" id="{7351DD24-C381-459F-AC77-181BD3DE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247" y="2243983"/>
            <a:ext cx="29718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th-TH" altLang="en-US" sz="2800" dirty="0">
                <a:solidFill>
                  <a:srgbClr val="0000FF"/>
                </a:solidFill>
                <a:latin typeface="Angsana New" panose="02020603050405020304" pitchFamily="18" charset="-34"/>
              </a:rPr>
              <a:t>การทำงานกับตาราง</a:t>
            </a:r>
            <a:endParaRPr lang="th-TH" altLang="en-US" sz="2800" dirty="0">
              <a:latin typeface="Angsana New" panose="02020603050405020304" pitchFamily="18" charset="-34"/>
            </a:endParaRP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เพิ่มข้อมูล</a:t>
            </a: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แก้ไข</a:t>
            </a: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ลบ</a:t>
            </a: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ค้นหา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8ECE1-B408-46EB-AB29-927F42C67B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98"/>
          <a:stretch/>
        </p:blipFill>
        <p:spPr>
          <a:xfrm>
            <a:off x="4163756" y="133963"/>
            <a:ext cx="3809256" cy="3972569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9F72DAD6-CE94-4A15-8819-57F35E630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515" y="4665062"/>
            <a:ext cx="1838325" cy="2003050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607751-C881-4EAB-9550-64A046DAD0D1}"/>
              </a:ext>
            </a:extLst>
          </p:cNvPr>
          <p:cNvCxnSpPr>
            <a:stCxn id="29706" idx="3"/>
          </p:cNvCxnSpPr>
          <p:nvPr/>
        </p:nvCxnSpPr>
        <p:spPr>
          <a:xfrm>
            <a:off x="3965979" y="4250784"/>
            <a:ext cx="543560" cy="738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A68DA5-2CA6-4ED0-B044-521152B6C014}"/>
              </a:ext>
            </a:extLst>
          </p:cNvPr>
          <p:cNvCxnSpPr>
            <a:cxnSpLocks/>
            <a:stCxn id="29706" idx="3"/>
          </p:cNvCxnSpPr>
          <p:nvPr/>
        </p:nvCxnSpPr>
        <p:spPr>
          <a:xfrm>
            <a:off x="3965979" y="4250784"/>
            <a:ext cx="1734820" cy="738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89F942-4123-4F31-A08C-C7907DA45F74}"/>
              </a:ext>
            </a:extLst>
          </p:cNvPr>
          <p:cNvCxnSpPr>
            <a:cxnSpLocks/>
            <a:stCxn id="29706" idx="3"/>
          </p:cNvCxnSpPr>
          <p:nvPr/>
        </p:nvCxnSpPr>
        <p:spPr>
          <a:xfrm>
            <a:off x="3965979" y="4250784"/>
            <a:ext cx="3068157" cy="67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E9653E9-D64D-40BE-8EC0-E7CA554222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378" b="28930"/>
          <a:stretch/>
        </p:blipFill>
        <p:spPr>
          <a:xfrm>
            <a:off x="8417082" y="244835"/>
            <a:ext cx="1719446" cy="2274846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DAB83E12-014F-4493-B166-2AD8A5EB2968}"/>
              </a:ext>
            </a:extLst>
          </p:cNvPr>
          <p:cNvSpPr/>
          <p:nvPr/>
        </p:nvSpPr>
        <p:spPr>
          <a:xfrm>
            <a:off x="7822117" y="434088"/>
            <a:ext cx="578114" cy="1910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B8E030-D95D-4BB3-BD05-3817614C1B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307"/>
          <a:stretch/>
        </p:blipFill>
        <p:spPr>
          <a:xfrm>
            <a:off x="10903518" y="861512"/>
            <a:ext cx="1194445" cy="1588283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EF3B8D9E-B9A8-41FA-AE4F-866AB3C1AB91}"/>
              </a:ext>
            </a:extLst>
          </p:cNvPr>
          <p:cNvSpPr/>
          <p:nvPr/>
        </p:nvSpPr>
        <p:spPr>
          <a:xfrm>
            <a:off x="9486920" y="853751"/>
            <a:ext cx="1331714" cy="21321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6B4448-ECED-4E8D-BF70-98ECAC0C5F62}"/>
              </a:ext>
            </a:extLst>
          </p:cNvPr>
          <p:cNvSpPr/>
          <p:nvPr/>
        </p:nvSpPr>
        <p:spPr>
          <a:xfrm>
            <a:off x="4237759" y="3007360"/>
            <a:ext cx="2417041" cy="21336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45A63BB-3835-4824-95E2-2BF984D1D3C8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V="1">
            <a:off x="6654800" y="2449795"/>
            <a:ext cx="4845941" cy="664245"/>
          </a:xfrm>
          <a:prstGeom prst="bentConnector2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88F60EA3-795A-4682-8C64-9492F793125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0830" b="-22971"/>
          <a:stretch/>
        </p:blipFill>
        <p:spPr>
          <a:xfrm>
            <a:off x="10506452" y="288760"/>
            <a:ext cx="1533230" cy="336383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E277AAE1-9F58-4D9E-BF3E-A5D4FB239BC2}"/>
              </a:ext>
            </a:extLst>
          </p:cNvPr>
          <p:cNvSpPr/>
          <p:nvPr/>
        </p:nvSpPr>
        <p:spPr>
          <a:xfrm>
            <a:off x="9438392" y="303911"/>
            <a:ext cx="1068060" cy="21321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651B75-D436-43EC-B4A8-7FF0314C44BA}"/>
              </a:ext>
            </a:extLst>
          </p:cNvPr>
          <p:cNvSpPr txBox="1"/>
          <p:nvPr/>
        </p:nvSpPr>
        <p:spPr>
          <a:xfrm>
            <a:off x="10651371" y="0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กำหนดขนาดข้อความ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61F72E-5323-470A-812A-1E70836FB903}"/>
              </a:ext>
            </a:extLst>
          </p:cNvPr>
          <p:cNvSpPr txBox="1"/>
          <p:nvPr/>
        </p:nvSpPr>
        <p:spPr>
          <a:xfrm>
            <a:off x="10634188" y="537688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กำหนดชนิดตัวเลข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238FB7-C9BC-414F-853F-2CB3284DC4DC}"/>
              </a:ext>
            </a:extLst>
          </p:cNvPr>
          <p:cNvSpPr txBox="1"/>
          <p:nvPr/>
        </p:nvSpPr>
        <p:spPr>
          <a:xfrm>
            <a:off x="9368245" y="1209282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</a:rPr>
              <a:t>วันที่ เวลา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C9A955-C018-4B33-B069-CFB16B2500C5}"/>
              </a:ext>
            </a:extLst>
          </p:cNvPr>
          <p:cNvSpPr txBox="1"/>
          <p:nvPr/>
        </p:nvSpPr>
        <p:spPr>
          <a:xfrm>
            <a:off x="9337765" y="1707122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</a:rPr>
              <a:t>เงิน ไม่ปัด  เศษ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46A62C-9831-4080-92BF-0D8793DDAB66}"/>
              </a:ext>
            </a:extLst>
          </p:cNvPr>
          <p:cNvSpPr txBox="1"/>
          <p:nvPr/>
        </p:nvSpPr>
        <p:spPr>
          <a:xfrm>
            <a:off x="9500325" y="1961122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</a:rPr>
              <a:t>รหัสเลข อัตโนมัต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6A43A1B-3E18-43AD-881B-D124CC2EB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4379" y="767910"/>
            <a:ext cx="1504303" cy="116046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5D9847B5-2000-4FAE-A4C3-A97E2F3E9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920" y="3523657"/>
            <a:ext cx="1371600" cy="141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EF1ACB3-649B-4A6E-B713-0AFC3FB78F9D}"/>
              </a:ext>
            </a:extLst>
          </p:cNvPr>
          <p:cNvSpPr txBox="1"/>
          <p:nvPr/>
        </p:nvSpPr>
        <p:spPr>
          <a:xfrm>
            <a:off x="569414" y="6350253"/>
            <a:ext cx="6182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99323-984B-ED75-83C8-BBCE2315D80E}"/>
              </a:ext>
            </a:extLst>
          </p:cNvPr>
          <p:cNvSpPr txBox="1"/>
          <p:nvPr/>
        </p:nvSpPr>
        <p:spPr>
          <a:xfrm>
            <a:off x="6305550" y="6378575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9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680C1A8-B9CF-4DF7-AFD5-71DF85C33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z="4800" b="1"/>
              <a:t>ชนิดคีย์ในฐานข้อมูล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4724C1B-AB6C-4E15-944F-476AB6C57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763" y="1473932"/>
            <a:ext cx="3199228" cy="4351338"/>
          </a:xfrm>
        </p:spPr>
        <p:txBody>
          <a:bodyPr/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Candidate Key</a:t>
            </a:r>
          </a:p>
          <a:p>
            <a:pPr lvl="1"/>
            <a:r>
              <a:rPr lang="en-US" altLang="en-US" b="1" dirty="0"/>
              <a:t>Composite Key</a:t>
            </a:r>
          </a:p>
          <a:p>
            <a:pPr lvl="1"/>
            <a:r>
              <a:rPr lang="en-US" altLang="en-US" b="1" dirty="0"/>
              <a:t>Foreign Key</a:t>
            </a:r>
            <a:endParaRPr lang="th-TH" altLang="en-US" b="1" dirty="0"/>
          </a:p>
          <a:p>
            <a:endParaRPr lang="th-TH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B67486-AB33-4144-9AEB-18BE3C17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63" y="3255098"/>
            <a:ext cx="6631600" cy="2418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56561-85A6-4E98-903F-84B4128EA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73" y="3989397"/>
            <a:ext cx="3851393" cy="1543498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607E3EB-7FFB-43D2-AB82-194312B36D84}"/>
              </a:ext>
            </a:extLst>
          </p:cNvPr>
          <p:cNvSpPr/>
          <p:nvPr/>
        </p:nvSpPr>
        <p:spPr>
          <a:xfrm rot="10800000">
            <a:off x="1027180" y="5673333"/>
            <a:ext cx="534334" cy="38984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0921A46-82EE-4A69-9A34-6F6B15231BD7}"/>
              </a:ext>
            </a:extLst>
          </p:cNvPr>
          <p:cNvSpPr/>
          <p:nvPr/>
        </p:nvSpPr>
        <p:spPr>
          <a:xfrm rot="10800000">
            <a:off x="2476200" y="5680990"/>
            <a:ext cx="534334" cy="38984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C315E5-8233-4791-80DA-E9A3737DA042}"/>
              </a:ext>
            </a:extLst>
          </p:cNvPr>
          <p:cNvSpPr txBox="1"/>
          <p:nvPr/>
        </p:nvSpPr>
        <p:spPr>
          <a:xfrm>
            <a:off x="226398" y="6055815"/>
            <a:ext cx="179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D9895-4CF1-4798-8F05-FBCFA31EFEE7}"/>
              </a:ext>
            </a:extLst>
          </p:cNvPr>
          <p:cNvSpPr txBox="1"/>
          <p:nvPr/>
        </p:nvSpPr>
        <p:spPr>
          <a:xfrm>
            <a:off x="1751407" y="6063472"/>
            <a:ext cx="2704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/>
              <a:t>Candidate Key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40FE44D-F7E5-4D22-8D73-AB336654E9A6}"/>
              </a:ext>
            </a:extLst>
          </p:cNvPr>
          <p:cNvSpPr/>
          <p:nvPr/>
        </p:nvSpPr>
        <p:spPr>
          <a:xfrm rot="10800000">
            <a:off x="8654917" y="5630349"/>
            <a:ext cx="534334" cy="38984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2729F5-C072-4C48-A256-16A9250427FE}"/>
              </a:ext>
            </a:extLst>
          </p:cNvPr>
          <p:cNvSpPr txBox="1"/>
          <p:nvPr/>
        </p:nvSpPr>
        <p:spPr>
          <a:xfrm>
            <a:off x="7920111" y="6012831"/>
            <a:ext cx="179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  <a:r>
              <a:rPr lang="th-TH" altLang="en-US" b="1" dirty="0">
                <a:solidFill>
                  <a:srgbClr val="C00000"/>
                </a:solidFill>
              </a:rPr>
              <a:t>    </a:t>
            </a:r>
            <a:endParaRPr lang="en-US" altLang="en-US" b="1" dirty="0">
              <a:solidFill>
                <a:srgbClr val="C00000"/>
              </a:solidFill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4C26C74-1ABE-44DA-BD2D-603A2893258F}"/>
              </a:ext>
            </a:extLst>
          </p:cNvPr>
          <p:cNvSpPr/>
          <p:nvPr/>
        </p:nvSpPr>
        <p:spPr>
          <a:xfrm rot="10800000">
            <a:off x="5777651" y="5680990"/>
            <a:ext cx="534334" cy="389842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F93C4B-2813-4CC4-B8E1-2107F2241EA6}"/>
              </a:ext>
            </a:extLst>
          </p:cNvPr>
          <p:cNvSpPr txBox="1"/>
          <p:nvPr/>
        </p:nvSpPr>
        <p:spPr>
          <a:xfrm>
            <a:off x="4976869" y="6063472"/>
            <a:ext cx="179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/>
              <a:t>Foreign Key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C83459E-E311-421E-8E58-59CD19DEDA0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91118" y="4964030"/>
            <a:ext cx="50641" cy="2943242"/>
          </a:xfrm>
          <a:prstGeom prst="bentConnector3">
            <a:avLst>
              <a:gd name="adj1" fmla="val -451413"/>
            </a:avLst>
          </a:prstGeom>
          <a:ln w="3810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A21D75-A236-CBDB-44C6-37DF7FAD7F38}"/>
              </a:ext>
            </a:extLst>
          </p:cNvPr>
          <p:cNvSpPr txBox="1"/>
          <p:nvPr/>
        </p:nvSpPr>
        <p:spPr>
          <a:xfrm>
            <a:off x="6677025" y="-3082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25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4B75013-35E3-4CB0-99CA-EBB7DF85E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70334"/>
            <a:ext cx="10515600" cy="1325563"/>
          </a:xfrm>
        </p:spPr>
        <p:txBody>
          <a:bodyPr/>
          <a:lstStyle/>
          <a:p>
            <a:r>
              <a:rPr lang="th-TH" altLang="en-US" sz="4800" b="1" dirty="0" err="1"/>
              <a:t>Relationships</a:t>
            </a:r>
            <a:endParaRPr lang="th-TH" altLang="en-US" sz="4800" b="1" dirty="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A0A2E5D-05C5-4566-AB55-8875A0DED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95897"/>
            <a:ext cx="10515600" cy="4351338"/>
          </a:xfrm>
          <a:ln>
            <a:noFill/>
          </a:ln>
        </p:spPr>
        <p:txBody>
          <a:bodyPr/>
          <a:lstStyle/>
          <a:p>
            <a:pPr lvl="1"/>
            <a:r>
              <a:rPr lang="th-TH" altLang="en-US" b="1" dirty="0">
                <a:solidFill>
                  <a:srgbClr val="00B0F0"/>
                </a:solidFill>
              </a:rPr>
              <a:t>One </a:t>
            </a:r>
            <a:r>
              <a:rPr lang="th-TH" altLang="en-US" b="1" dirty="0" err="1">
                <a:solidFill>
                  <a:srgbClr val="00B0F0"/>
                </a:solidFill>
              </a:rPr>
              <a:t>to</a:t>
            </a:r>
            <a:r>
              <a:rPr lang="th-TH" altLang="en-US" b="1" dirty="0">
                <a:solidFill>
                  <a:srgbClr val="00B0F0"/>
                </a:solidFill>
              </a:rPr>
              <a:t> One</a:t>
            </a:r>
          </a:p>
          <a:p>
            <a:pPr lvl="1"/>
            <a:r>
              <a:rPr lang="th-TH" altLang="en-US" b="1" dirty="0">
                <a:solidFill>
                  <a:srgbClr val="FF0000"/>
                </a:solidFill>
              </a:rPr>
              <a:t>One </a:t>
            </a:r>
            <a:r>
              <a:rPr lang="th-TH" altLang="en-US" b="1" dirty="0" err="1">
                <a:solidFill>
                  <a:srgbClr val="FF0000"/>
                </a:solidFill>
              </a:rPr>
              <a:t>to</a:t>
            </a:r>
            <a:r>
              <a:rPr lang="th-TH" altLang="en-US" b="1" dirty="0">
                <a:solidFill>
                  <a:srgbClr val="FF0000"/>
                </a:solidFill>
              </a:rPr>
              <a:t> </a:t>
            </a:r>
            <a:r>
              <a:rPr lang="th-TH" altLang="en-US" b="1" dirty="0" err="1">
                <a:solidFill>
                  <a:srgbClr val="FF0000"/>
                </a:solidFill>
              </a:rPr>
              <a:t>Many</a:t>
            </a:r>
            <a:endParaRPr lang="th-TH" altLang="en-US" b="1" dirty="0">
              <a:solidFill>
                <a:srgbClr val="FF0000"/>
              </a:solidFill>
            </a:endParaRPr>
          </a:p>
          <a:p>
            <a:pPr lvl="1"/>
            <a:r>
              <a:rPr lang="th-TH" altLang="en-US" b="1" dirty="0" err="1">
                <a:solidFill>
                  <a:srgbClr val="00B050"/>
                </a:solidFill>
              </a:rPr>
              <a:t>Many</a:t>
            </a:r>
            <a:r>
              <a:rPr lang="th-TH" altLang="en-US" b="1" dirty="0">
                <a:solidFill>
                  <a:srgbClr val="00B050"/>
                </a:solidFill>
              </a:rPr>
              <a:t> </a:t>
            </a:r>
            <a:r>
              <a:rPr lang="th-TH" altLang="en-US" b="1" dirty="0" err="1">
                <a:solidFill>
                  <a:srgbClr val="00B050"/>
                </a:solidFill>
              </a:rPr>
              <a:t>to</a:t>
            </a:r>
            <a:r>
              <a:rPr lang="th-TH" altLang="en-US" b="1" dirty="0">
                <a:solidFill>
                  <a:srgbClr val="00B050"/>
                </a:solidFill>
              </a:rPr>
              <a:t> </a:t>
            </a:r>
            <a:r>
              <a:rPr lang="th-TH" altLang="en-US" b="1" dirty="0" err="1">
                <a:solidFill>
                  <a:srgbClr val="00B050"/>
                </a:solidFill>
              </a:rPr>
              <a:t>Many</a:t>
            </a:r>
            <a:endParaRPr lang="th-TH" altLang="en-US" b="1" dirty="0">
              <a:solidFill>
                <a:srgbClr val="00B050"/>
              </a:solidFill>
            </a:endParaRPr>
          </a:p>
          <a:p>
            <a:endParaRPr lang="th-TH" altLang="en-US" dirty="0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DDF123CD-12B4-4F4F-B46E-AA2190860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4775" y="1341438"/>
            <a:ext cx="54864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40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6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pPr lvl="1"/>
            <a:endParaRPr lang="th-TH" alt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BAA64-513E-4A6D-9906-CF4540E27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7" y="2957062"/>
            <a:ext cx="6631600" cy="2418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F13A54-CBA2-4B1B-B7D5-284B8016B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92" y="3003848"/>
            <a:ext cx="3851393" cy="15434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5104DD-B220-4413-AFB6-E4C7DF74E2F4}"/>
              </a:ext>
            </a:extLst>
          </p:cNvPr>
          <p:cNvSpPr txBox="1"/>
          <p:nvPr/>
        </p:nvSpPr>
        <p:spPr>
          <a:xfrm>
            <a:off x="6713716" y="3252377"/>
            <a:ext cx="1711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rgbClr val="00B0F0"/>
                </a:solidFill>
                <a:latin typeface="+mj-lt"/>
              </a:rPr>
              <a:t>  </a:t>
            </a:r>
            <a:r>
              <a:rPr lang="en-US" sz="2800" b="1" dirty="0">
                <a:solidFill>
                  <a:srgbClr val="00B0F0"/>
                </a:solidFill>
                <a:latin typeface="+mj-lt"/>
              </a:rPr>
              <a:t>1       1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F241ED-8B13-4C6E-B031-562FC1580504}"/>
              </a:ext>
            </a:extLst>
          </p:cNvPr>
          <p:cNvCxnSpPr/>
          <p:nvPr/>
        </p:nvCxnSpPr>
        <p:spPr>
          <a:xfrm>
            <a:off x="6504039" y="3775597"/>
            <a:ext cx="2109019" cy="2760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6E3F6D-3968-41DD-9FFA-C6BC5D050420}"/>
              </a:ext>
            </a:extLst>
          </p:cNvPr>
          <p:cNvCxnSpPr>
            <a:cxnSpLocks/>
          </p:cNvCxnSpPr>
          <p:nvPr/>
        </p:nvCxnSpPr>
        <p:spPr>
          <a:xfrm flipH="1">
            <a:off x="6312310" y="4405862"/>
            <a:ext cx="1711282" cy="700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879DB6-D337-4CDD-8167-816D94F9B4CA}"/>
              </a:ext>
            </a:extLst>
          </p:cNvPr>
          <p:cNvCxnSpPr>
            <a:cxnSpLocks/>
          </p:cNvCxnSpPr>
          <p:nvPr/>
        </p:nvCxnSpPr>
        <p:spPr>
          <a:xfrm flipH="1">
            <a:off x="6312310" y="4405862"/>
            <a:ext cx="1711282" cy="8461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DBA92CA-4FB0-4546-A3C8-A3D1C64DFBCC}"/>
              </a:ext>
            </a:extLst>
          </p:cNvPr>
          <p:cNvSpPr txBox="1"/>
          <p:nvPr/>
        </p:nvSpPr>
        <p:spPr>
          <a:xfrm>
            <a:off x="6673274" y="3989336"/>
            <a:ext cx="171128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rgbClr val="FF0000"/>
                </a:solidFill>
                <a:latin typeface="+mj-lt"/>
              </a:rPr>
              <a:t> 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n      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C92E1-DE21-0754-6B25-AD52537B8A2C}"/>
              </a:ext>
            </a:extLst>
          </p:cNvPr>
          <p:cNvSpPr txBox="1"/>
          <p:nvPr/>
        </p:nvSpPr>
        <p:spPr>
          <a:xfrm>
            <a:off x="6677025" y="-3082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BE8BAE42-6DCC-4B4C-9F33-AAD8C5B09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9688" y="523875"/>
          <a:ext cx="6202362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200588" imgH="1876543" progId="Paint.Picture">
                  <p:embed/>
                </p:oleObj>
              </mc:Choice>
              <mc:Fallback>
                <p:oleObj name="Bitmap Image" r:id="rId2" imgW="6200588" imgH="1876543" progId="Paint.Picture">
                  <p:embed/>
                  <p:pic>
                    <p:nvPicPr>
                      <p:cNvPr id="26635" name="Object 11">
                        <a:extLst>
                          <a:ext uri="{FF2B5EF4-FFF2-40B4-BE49-F238E27FC236}">
                            <a16:creationId xmlns:a16="http://schemas.microsoft.com/office/drawing/2014/main" id="{BE8BAE42-6DCC-4B4C-9F33-AAD8C5B094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523875"/>
                        <a:ext cx="6202362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8" name="Text Box 44">
            <a:extLst>
              <a:ext uri="{FF2B5EF4-FFF2-40B4-BE49-F238E27FC236}">
                <a16:creationId xmlns:a16="http://schemas.microsoft.com/office/drawing/2014/main" id="{C0A9914D-350C-4860-9CED-F267E0F76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57200"/>
            <a:ext cx="1447800" cy="3048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th-TH" altLang="en-US" sz="1400" b="1">
                <a:solidFill>
                  <a:srgbClr val="0000FF"/>
                </a:solidFill>
                <a:latin typeface="Angsana New" panose="02020603050405020304" pitchFamily="18" charset="-34"/>
              </a:rPr>
              <a:t>ตารางหนังสือที่จัดพิมพ์</a:t>
            </a:r>
          </a:p>
        </p:txBody>
      </p:sp>
      <p:grpSp>
        <p:nvGrpSpPr>
          <p:cNvPr id="26650" name="Group 26">
            <a:extLst>
              <a:ext uri="{FF2B5EF4-FFF2-40B4-BE49-F238E27FC236}">
                <a16:creationId xmlns:a16="http://schemas.microsoft.com/office/drawing/2014/main" id="{02A2A103-FB9D-45C9-8C97-97CB57C559D6}"/>
              </a:ext>
            </a:extLst>
          </p:cNvPr>
          <p:cNvGrpSpPr>
            <a:grpSpLocks/>
          </p:cNvGrpSpPr>
          <p:nvPr/>
        </p:nvGrpSpPr>
        <p:grpSpPr bwMode="auto">
          <a:xfrm>
            <a:off x="3341688" y="904876"/>
            <a:ext cx="3821112" cy="847725"/>
            <a:chOff x="960" y="432"/>
            <a:chExt cx="2400" cy="480"/>
          </a:xfrm>
        </p:grpSpPr>
        <p:sp>
          <p:nvSpPr>
            <p:cNvPr id="26638" name="Line 14">
              <a:extLst>
                <a:ext uri="{FF2B5EF4-FFF2-40B4-BE49-F238E27FC236}">
                  <a16:creationId xmlns:a16="http://schemas.microsoft.com/office/drawing/2014/main" id="{C8002289-67BC-4B38-821B-20E41157F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576"/>
              <a:ext cx="240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Text Box 15">
              <a:extLst>
                <a:ext uri="{FF2B5EF4-FFF2-40B4-BE49-F238E27FC236}">
                  <a16:creationId xmlns:a16="http://schemas.microsoft.com/office/drawing/2014/main" id="{7E00591F-2A16-4E12-95D5-D6DBF4D8D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432"/>
              <a:ext cx="1488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>
                  <a:solidFill>
                    <a:srgbClr val="FF0000"/>
                  </a:solidFill>
                  <a:latin typeface="Angsana New" panose="02020603050405020304" pitchFamily="18" charset="-34"/>
                </a:rPr>
                <a:t>One  to One</a:t>
              </a:r>
            </a:p>
          </p:txBody>
        </p:sp>
      </p:grpSp>
      <p:grpSp>
        <p:nvGrpSpPr>
          <p:cNvPr id="26661" name="Group 37">
            <a:extLst>
              <a:ext uri="{FF2B5EF4-FFF2-40B4-BE49-F238E27FC236}">
                <a16:creationId xmlns:a16="http://schemas.microsoft.com/office/drawing/2014/main" id="{97C03DFF-0486-46B6-BA83-33C11A55323E}"/>
              </a:ext>
            </a:extLst>
          </p:cNvPr>
          <p:cNvGrpSpPr>
            <a:grpSpLocks/>
          </p:cNvGrpSpPr>
          <p:nvPr/>
        </p:nvGrpSpPr>
        <p:grpSpPr bwMode="auto">
          <a:xfrm>
            <a:off x="1449388" y="950913"/>
            <a:ext cx="1816100" cy="1401763"/>
            <a:chOff x="-232" y="461"/>
            <a:chExt cx="1144" cy="883"/>
          </a:xfrm>
        </p:grpSpPr>
        <p:sp>
          <p:nvSpPr>
            <p:cNvPr id="26659" name="Text Box 35">
              <a:extLst>
                <a:ext uri="{FF2B5EF4-FFF2-40B4-BE49-F238E27FC236}">
                  <a16:creationId xmlns:a16="http://schemas.microsoft.com/office/drawing/2014/main" id="{D1462CB7-A634-4594-897D-E912F6E9F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2" y="461"/>
              <a:ext cx="72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Primary</a:t>
              </a:r>
              <a:r>
                <a:rPr lang="th-TH" altLang="en-US" sz="2800" b="1" dirty="0">
                  <a:solidFill>
                    <a:srgbClr val="0000FF"/>
                  </a:solidFill>
                  <a:latin typeface="Angsana New" panose="02020603050405020304" pitchFamily="18" charset="-34"/>
                </a:rPr>
                <a:t> </a:t>
              </a: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Key</a:t>
              </a:r>
              <a:endParaRPr lang="th-TH" altLang="en-US" sz="2800" b="1" dirty="0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26660" name="Rectangle 36">
              <a:extLst>
                <a:ext uri="{FF2B5EF4-FFF2-40B4-BE49-F238E27FC236}">
                  <a16:creationId xmlns:a16="http://schemas.microsoft.com/office/drawing/2014/main" id="{E1D38499-4D7F-4872-BF54-8186329CD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528"/>
              <a:ext cx="288" cy="816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66" name="Rectangle 42">
            <a:extLst>
              <a:ext uri="{FF2B5EF4-FFF2-40B4-BE49-F238E27FC236}">
                <a16:creationId xmlns:a16="http://schemas.microsoft.com/office/drawing/2014/main" id="{0F1F8BA2-8277-4971-A3C4-3E03D17E1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-315913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r>
              <a:rPr lang="th-TH" altLang="en-US" sz="4000" dirty="0">
                <a:solidFill>
                  <a:schemeClr val="tx1"/>
                </a:solidFill>
              </a:rPr>
              <a:t>ตัวอย่างฐานข้อมูลของร้านขายหนังสือ</a:t>
            </a:r>
          </a:p>
        </p:txBody>
      </p:sp>
      <p:grpSp>
        <p:nvGrpSpPr>
          <p:cNvPr id="26672" name="Group 48">
            <a:extLst>
              <a:ext uri="{FF2B5EF4-FFF2-40B4-BE49-F238E27FC236}">
                <a16:creationId xmlns:a16="http://schemas.microsoft.com/office/drawing/2014/main" id="{5D8A3876-EB36-4B27-8A43-A675187C3974}"/>
              </a:ext>
            </a:extLst>
          </p:cNvPr>
          <p:cNvGrpSpPr>
            <a:grpSpLocks/>
          </p:cNvGrpSpPr>
          <p:nvPr/>
        </p:nvGrpSpPr>
        <p:grpSpPr bwMode="auto">
          <a:xfrm>
            <a:off x="7010401" y="990601"/>
            <a:ext cx="3209925" cy="1781175"/>
            <a:chOff x="3456" y="624"/>
            <a:chExt cx="2022" cy="1122"/>
          </a:xfrm>
        </p:grpSpPr>
        <p:graphicFrame>
          <p:nvGraphicFramePr>
            <p:cNvPr id="26636" name="Object 12">
              <a:extLst>
                <a:ext uri="{FF2B5EF4-FFF2-40B4-BE49-F238E27FC236}">
                  <a16:creationId xmlns:a16="http://schemas.microsoft.com/office/drawing/2014/main" id="{295C03AC-2730-4FD1-8BA3-17E38EDA3B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720"/>
            <a:ext cx="2022" cy="1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3209943" imgH="1628690" progId="Paint.Picture">
                    <p:embed/>
                  </p:oleObj>
                </mc:Choice>
                <mc:Fallback>
                  <p:oleObj name="Bitmap Image" r:id="rId4" imgW="3209943" imgH="1628690" progId="Paint.Picture">
                    <p:embed/>
                    <p:pic>
                      <p:nvPicPr>
                        <p:cNvPr id="26636" name="Object 12">
                          <a:extLst>
                            <a:ext uri="{FF2B5EF4-FFF2-40B4-BE49-F238E27FC236}">
                              <a16:creationId xmlns:a16="http://schemas.microsoft.com/office/drawing/2014/main" id="{295C03AC-2730-4FD1-8BA3-17E38EDA3B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720"/>
                          <a:ext cx="2022" cy="10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0" name="Text Box 46">
              <a:extLst>
                <a:ext uri="{FF2B5EF4-FFF2-40B4-BE49-F238E27FC236}">
                  <a16:creationId xmlns:a16="http://schemas.microsoft.com/office/drawing/2014/main" id="{CBB69388-711D-4D03-8028-D17B76465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624"/>
              <a:ext cx="110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th-TH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ตารางราคาหนังสือที่จัดพิมพ์</a:t>
              </a:r>
            </a:p>
          </p:txBody>
        </p:sp>
      </p:grpSp>
      <p:grpSp>
        <p:nvGrpSpPr>
          <p:cNvPr id="26651" name="Group 27">
            <a:extLst>
              <a:ext uri="{FF2B5EF4-FFF2-40B4-BE49-F238E27FC236}">
                <a16:creationId xmlns:a16="http://schemas.microsoft.com/office/drawing/2014/main" id="{D1396610-5762-4C0B-8087-3733EE5500A6}"/>
              </a:ext>
            </a:extLst>
          </p:cNvPr>
          <p:cNvGrpSpPr>
            <a:grpSpLocks/>
          </p:cNvGrpSpPr>
          <p:nvPr/>
        </p:nvGrpSpPr>
        <p:grpSpPr bwMode="auto">
          <a:xfrm>
            <a:off x="5246688" y="1438276"/>
            <a:ext cx="2678112" cy="2295525"/>
            <a:chOff x="2256" y="768"/>
            <a:chExt cx="1392" cy="1392"/>
          </a:xfrm>
        </p:grpSpPr>
        <p:sp>
          <p:nvSpPr>
            <p:cNvPr id="26640" name="Line 16">
              <a:extLst>
                <a:ext uri="{FF2B5EF4-FFF2-40B4-BE49-F238E27FC236}">
                  <a16:creationId xmlns:a16="http://schemas.microsoft.com/office/drawing/2014/main" id="{7FEEEA97-F120-43BE-A4F7-F772AB15E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768"/>
              <a:ext cx="192" cy="81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Line 17">
              <a:extLst>
                <a:ext uri="{FF2B5EF4-FFF2-40B4-BE49-F238E27FC236}">
                  <a16:creationId xmlns:a16="http://schemas.microsoft.com/office/drawing/2014/main" id="{23B3EC02-2F5E-40FF-AD42-26EB3E9961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1152"/>
              <a:ext cx="480" cy="100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2" name="Text Box 18">
              <a:extLst>
                <a:ext uri="{FF2B5EF4-FFF2-40B4-BE49-F238E27FC236}">
                  <a16:creationId xmlns:a16="http://schemas.microsoft.com/office/drawing/2014/main" id="{7F78A943-3B57-4F1F-BFC1-50DE15137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392"/>
              <a:ext cx="1392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>
                  <a:latin typeface="Angsana New" panose="02020603050405020304" pitchFamily="18" charset="-34"/>
                </a:rPr>
                <a:t>One to Many</a:t>
              </a:r>
            </a:p>
          </p:txBody>
        </p:sp>
      </p:grpSp>
      <p:grpSp>
        <p:nvGrpSpPr>
          <p:cNvPr id="26678" name="Group 54">
            <a:extLst>
              <a:ext uri="{FF2B5EF4-FFF2-40B4-BE49-F238E27FC236}">
                <a16:creationId xmlns:a16="http://schemas.microsoft.com/office/drawing/2014/main" id="{F95B60BD-3171-42AE-9942-2FCFAFEE37B3}"/>
              </a:ext>
            </a:extLst>
          </p:cNvPr>
          <p:cNvGrpSpPr>
            <a:grpSpLocks/>
          </p:cNvGrpSpPr>
          <p:nvPr/>
        </p:nvGrpSpPr>
        <p:grpSpPr bwMode="auto">
          <a:xfrm>
            <a:off x="7625555" y="2955226"/>
            <a:ext cx="3059113" cy="1971675"/>
            <a:chOff x="3744" y="1776"/>
            <a:chExt cx="1927" cy="1242"/>
          </a:xfrm>
        </p:grpSpPr>
        <p:graphicFrame>
          <p:nvGraphicFramePr>
            <p:cNvPr id="26664" name="Object 40">
              <a:extLst>
                <a:ext uri="{FF2B5EF4-FFF2-40B4-BE49-F238E27FC236}">
                  <a16:creationId xmlns:a16="http://schemas.microsoft.com/office/drawing/2014/main" id="{725DD30D-CF48-4FFF-A82A-3B85429279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1824"/>
            <a:ext cx="1927" cy="1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6" imgW="3057614" imgH="1895256" progId="Paint.Picture">
                    <p:embed/>
                  </p:oleObj>
                </mc:Choice>
                <mc:Fallback>
                  <p:oleObj name="Bitmap Image" r:id="rId6" imgW="3057614" imgH="1895256" progId="Paint.Picture">
                    <p:embed/>
                    <p:pic>
                      <p:nvPicPr>
                        <p:cNvPr id="26664" name="Object 40">
                          <a:extLst>
                            <a:ext uri="{FF2B5EF4-FFF2-40B4-BE49-F238E27FC236}">
                              <a16:creationId xmlns:a16="http://schemas.microsoft.com/office/drawing/2014/main" id="{725DD30D-CF48-4FFF-A82A-3B85429279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824"/>
                          <a:ext cx="1927" cy="1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4" name="Text Box 50">
              <a:extLst>
                <a:ext uri="{FF2B5EF4-FFF2-40B4-BE49-F238E27FC236}">
                  <a16:creationId xmlns:a16="http://schemas.microsoft.com/office/drawing/2014/main" id="{DF98DD58-D51E-469C-8CE3-7D13AFDCB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76"/>
              <a:ext cx="912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th-TH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ตาราง</a:t>
              </a:r>
              <a:r>
                <a:rPr lang="en-US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สำนักพิมพ์</a:t>
              </a:r>
              <a:endParaRPr lang="th-TH" altLang="en-US" sz="1400" b="1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26677" name="Group 53">
            <a:extLst>
              <a:ext uri="{FF2B5EF4-FFF2-40B4-BE49-F238E27FC236}">
                <a16:creationId xmlns:a16="http://schemas.microsoft.com/office/drawing/2014/main" id="{EBCD4F0A-897E-4947-B955-579B780BCDF4}"/>
              </a:ext>
            </a:extLst>
          </p:cNvPr>
          <p:cNvGrpSpPr>
            <a:grpSpLocks/>
          </p:cNvGrpSpPr>
          <p:nvPr/>
        </p:nvGrpSpPr>
        <p:grpSpPr bwMode="auto">
          <a:xfrm>
            <a:off x="2884489" y="3124200"/>
            <a:ext cx="6029325" cy="3657600"/>
            <a:chOff x="857" y="1968"/>
            <a:chExt cx="3798" cy="2304"/>
          </a:xfrm>
        </p:grpSpPr>
        <p:grpSp>
          <p:nvGrpSpPr>
            <p:cNvPr id="26676" name="Group 52">
              <a:extLst>
                <a:ext uri="{FF2B5EF4-FFF2-40B4-BE49-F238E27FC236}">
                  <a16:creationId xmlns:a16="http://schemas.microsoft.com/office/drawing/2014/main" id="{637292A4-A97E-4443-91CA-0611E787F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7" y="1968"/>
              <a:ext cx="3798" cy="2304"/>
              <a:chOff x="857" y="1968"/>
              <a:chExt cx="3798" cy="2304"/>
            </a:xfrm>
          </p:grpSpPr>
          <p:grpSp>
            <p:nvGrpSpPr>
              <p:cNvPr id="26652" name="Group 28">
                <a:extLst>
                  <a:ext uri="{FF2B5EF4-FFF2-40B4-BE49-F238E27FC236}">
                    <a16:creationId xmlns:a16="http://schemas.microsoft.com/office/drawing/2014/main" id="{F4E803FA-AF20-4C0F-A575-CA290AEF55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7" y="2058"/>
                <a:ext cx="3798" cy="2214"/>
                <a:chOff x="672" y="1920"/>
                <a:chExt cx="3798" cy="2214"/>
              </a:xfrm>
            </p:grpSpPr>
            <p:graphicFrame>
              <p:nvGraphicFramePr>
                <p:cNvPr id="26643" name="Object 19">
                  <a:extLst>
                    <a:ext uri="{FF2B5EF4-FFF2-40B4-BE49-F238E27FC236}">
                      <a16:creationId xmlns:a16="http://schemas.microsoft.com/office/drawing/2014/main" id="{81C10C6E-9013-4DBA-AEFF-D512E00FD80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72" y="1920"/>
                <a:ext cx="1416" cy="147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8" imgW="2247546" imgH="2333333" progId="Paint.Picture">
                        <p:embed/>
                      </p:oleObj>
                    </mc:Choice>
                    <mc:Fallback>
                      <p:oleObj name="Bitmap Image" r:id="rId8" imgW="2247546" imgH="2333333" progId="Paint.Picture">
                        <p:embed/>
                        <p:pic>
                          <p:nvPicPr>
                            <p:cNvPr id="26643" name="Object 19">
                              <a:extLst>
                                <a:ext uri="{FF2B5EF4-FFF2-40B4-BE49-F238E27FC236}">
                                  <a16:creationId xmlns:a16="http://schemas.microsoft.com/office/drawing/2014/main" id="{81C10C6E-9013-4DBA-AEFF-D512E00FD80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2" y="1920"/>
                              <a:ext cx="1416" cy="147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44" name="Object 20">
                  <a:extLst>
                    <a:ext uri="{FF2B5EF4-FFF2-40B4-BE49-F238E27FC236}">
                      <a16:creationId xmlns:a16="http://schemas.microsoft.com/office/drawing/2014/main" id="{1C9B5AD1-9E6E-4008-B67B-AB3859CFACB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96" y="2448"/>
                <a:ext cx="1974" cy="16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10" imgW="3133820" imgH="2676798" progId="Paint.Picture">
                        <p:embed/>
                      </p:oleObj>
                    </mc:Choice>
                    <mc:Fallback>
                      <p:oleObj name="Bitmap Image" r:id="rId10" imgW="3133820" imgH="2676798" progId="Paint.Picture">
                        <p:embed/>
                        <p:pic>
                          <p:nvPicPr>
                            <p:cNvPr id="26644" name="Object 20">
                              <a:extLst>
                                <a:ext uri="{FF2B5EF4-FFF2-40B4-BE49-F238E27FC236}">
                                  <a16:creationId xmlns:a16="http://schemas.microsoft.com/office/drawing/2014/main" id="{1C9B5AD1-9E6E-4008-B67B-AB3859CFACB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96" y="2448"/>
                              <a:ext cx="1974" cy="168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6673" name="Text Box 49">
                <a:extLst>
                  <a:ext uri="{FF2B5EF4-FFF2-40B4-BE49-F238E27FC236}">
                    <a16:creationId xmlns:a16="http://schemas.microsoft.com/office/drawing/2014/main" id="{5936B981-8A53-498D-B123-650C51FF6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968"/>
                <a:ext cx="912" cy="192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th-TH" altLang="en-US" sz="1400" b="1">
                    <a:solidFill>
                      <a:srgbClr val="0000FF"/>
                    </a:solidFill>
                    <a:latin typeface="Angsana New" panose="02020603050405020304" pitchFamily="18" charset="-34"/>
                  </a:rPr>
                  <a:t>ตารางผู้แต่งหนังสือ</a:t>
                </a:r>
              </a:p>
            </p:txBody>
          </p:sp>
        </p:grpSp>
        <p:sp>
          <p:nvSpPr>
            <p:cNvPr id="26675" name="Text Box 51">
              <a:extLst>
                <a:ext uri="{FF2B5EF4-FFF2-40B4-BE49-F238E27FC236}">
                  <a16:creationId xmlns:a16="http://schemas.microsoft.com/office/drawing/2014/main" id="{F421AB92-B9C2-4E00-8862-DF49A6144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96"/>
              <a:ext cx="912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th-TH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ตาราง</a:t>
              </a:r>
              <a:r>
                <a:rPr lang="en-US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นักเขียน</a:t>
              </a:r>
              <a:endParaRPr lang="th-TH" altLang="en-US" sz="1400" b="1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26653" name="Group 29">
            <a:extLst>
              <a:ext uri="{FF2B5EF4-FFF2-40B4-BE49-F238E27FC236}">
                <a16:creationId xmlns:a16="http://schemas.microsoft.com/office/drawing/2014/main" id="{E08B9E57-CB1A-4131-B199-C71283AC71C3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438400"/>
            <a:ext cx="3200400" cy="2209800"/>
            <a:chOff x="816" y="1392"/>
            <a:chExt cx="2064" cy="1200"/>
          </a:xfrm>
        </p:grpSpPr>
        <p:sp>
          <p:nvSpPr>
            <p:cNvPr id="26647" name="Line 23">
              <a:extLst>
                <a:ext uri="{FF2B5EF4-FFF2-40B4-BE49-F238E27FC236}">
                  <a16:creationId xmlns:a16="http://schemas.microsoft.com/office/drawing/2014/main" id="{38B322BB-3AF2-4068-B9DF-C01677DD3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392"/>
              <a:ext cx="288" cy="72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Line 24">
              <a:extLst>
                <a:ext uri="{FF2B5EF4-FFF2-40B4-BE49-F238E27FC236}">
                  <a16:creationId xmlns:a16="http://schemas.microsoft.com/office/drawing/2014/main" id="{4CF4706E-0F86-4FC0-99D5-C93EE07DA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2208"/>
              <a:ext cx="1152" cy="384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Text Box 25">
              <a:extLst>
                <a:ext uri="{FF2B5EF4-FFF2-40B4-BE49-F238E27FC236}">
                  <a16:creationId xmlns:a16="http://schemas.microsoft.com/office/drawing/2014/main" id="{655EDEF5-8523-4BAA-B5E1-335E72228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88"/>
              <a:ext cx="1104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800" b="1">
                  <a:solidFill>
                    <a:srgbClr val="FF33CC"/>
                  </a:solidFill>
                  <a:latin typeface="Angsana New" panose="02020603050405020304" pitchFamily="18" charset="-34"/>
                </a:rPr>
                <a:t>Many to Many</a:t>
              </a:r>
              <a:endParaRPr lang="th-TH" altLang="en-US" sz="2800" b="1">
                <a:solidFill>
                  <a:srgbClr val="FF33CC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26662" name="Group 38">
            <a:extLst>
              <a:ext uri="{FF2B5EF4-FFF2-40B4-BE49-F238E27FC236}">
                <a16:creationId xmlns:a16="http://schemas.microsoft.com/office/drawing/2014/main" id="{C6B566BB-2F20-4A97-9673-DB0911D4076A}"/>
              </a:ext>
            </a:extLst>
          </p:cNvPr>
          <p:cNvGrpSpPr>
            <a:grpSpLocks/>
          </p:cNvGrpSpPr>
          <p:nvPr/>
        </p:nvGrpSpPr>
        <p:grpSpPr bwMode="auto">
          <a:xfrm>
            <a:off x="2960688" y="3648075"/>
            <a:ext cx="1828800" cy="2662238"/>
            <a:chOff x="720" y="2160"/>
            <a:chExt cx="1152" cy="1677"/>
          </a:xfrm>
        </p:grpSpPr>
        <p:sp>
          <p:nvSpPr>
            <p:cNvPr id="26655" name="Rectangle 31">
              <a:extLst>
                <a:ext uri="{FF2B5EF4-FFF2-40B4-BE49-F238E27FC236}">
                  <a16:creationId xmlns:a16="http://schemas.microsoft.com/office/drawing/2014/main" id="{12B08715-8F91-47D6-8E2A-0A4326FCA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160"/>
              <a:ext cx="960" cy="129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Text Box 32">
              <a:extLst>
                <a:ext uri="{FF2B5EF4-FFF2-40B4-BE49-F238E27FC236}">
                  <a16:creationId xmlns:a16="http://schemas.microsoft.com/office/drawing/2014/main" id="{A5691802-044C-4809-99E9-C9A6EC489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504"/>
              <a:ext cx="1152" cy="3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>
                  <a:latin typeface="Angsana New" panose="02020603050405020304" pitchFamily="18" charset="-34"/>
                </a:rPr>
                <a:t>Composite Key</a:t>
              </a:r>
            </a:p>
          </p:txBody>
        </p:sp>
      </p:grpSp>
      <p:grpSp>
        <p:nvGrpSpPr>
          <p:cNvPr id="26665" name="Group 41">
            <a:extLst>
              <a:ext uri="{FF2B5EF4-FFF2-40B4-BE49-F238E27FC236}">
                <a16:creationId xmlns:a16="http://schemas.microsoft.com/office/drawing/2014/main" id="{96333D9D-A322-4D47-8B47-8F7A53D7596F}"/>
              </a:ext>
            </a:extLst>
          </p:cNvPr>
          <p:cNvGrpSpPr>
            <a:grpSpLocks/>
          </p:cNvGrpSpPr>
          <p:nvPr/>
        </p:nvGrpSpPr>
        <p:grpSpPr bwMode="auto">
          <a:xfrm>
            <a:off x="3113088" y="3800475"/>
            <a:ext cx="2590800" cy="1828800"/>
            <a:chOff x="816" y="2256"/>
            <a:chExt cx="1632" cy="1152"/>
          </a:xfrm>
        </p:grpSpPr>
        <p:sp>
          <p:nvSpPr>
            <p:cNvPr id="26657" name="Rectangle 33">
              <a:extLst>
                <a:ext uri="{FF2B5EF4-FFF2-40B4-BE49-F238E27FC236}">
                  <a16:creationId xmlns:a16="http://schemas.microsoft.com/office/drawing/2014/main" id="{5F5B75D1-68C3-4188-BE46-DA902EBE9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256"/>
              <a:ext cx="288" cy="1152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8" name="Text Box 34">
              <a:extLst>
                <a:ext uri="{FF2B5EF4-FFF2-40B4-BE49-F238E27FC236}">
                  <a16:creationId xmlns:a16="http://schemas.microsoft.com/office/drawing/2014/main" id="{5F8772FF-BCD7-4C50-9248-1D82AACB6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655"/>
              <a:ext cx="672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Foreign</a:t>
              </a:r>
              <a:r>
                <a:rPr lang="th-TH" altLang="en-US" sz="2800" b="1" dirty="0">
                  <a:solidFill>
                    <a:srgbClr val="0000FF"/>
                  </a:solidFill>
                  <a:latin typeface="Angsana New" panose="02020603050405020304" pitchFamily="18" charset="-34"/>
                </a:rPr>
                <a:t> </a:t>
              </a: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Key</a:t>
              </a:r>
              <a:endParaRPr lang="th-TH" altLang="en-US" sz="2800" b="1" dirty="0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44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9FBF-11FB-4303-B9AB-1B8A8BC5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5639-ADBE-4AD6-B519-4AAF7CD4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https://encrypted-tbn0.gstatic.com/images?q=tbn:ANd9GcSE1Sr-EgBLFfD-67TNJh3qudmjFiAm9YfGLA&amp;usqp=CAU">
            <a:extLst>
              <a:ext uri="{FF2B5EF4-FFF2-40B4-BE49-F238E27FC236}">
                <a16:creationId xmlns:a16="http://schemas.microsoft.com/office/drawing/2014/main" id="{75461F09-727F-40BB-90A7-A4F8E1823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1"/>
          <a:stretch/>
        </p:blipFill>
        <p:spPr bwMode="auto">
          <a:xfrm>
            <a:off x="227839" y="84313"/>
            <a:ext cx="5868161" cy="431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static.naewna.com/uploads/files2017/images/S__56230011.jpg">
            <a:extLst>
              <a:ext uri="{FF2B5EF4-FFF2-40B4-BE49-F238E27FC236}">
                <a16:creationId xmlns:a16="http://schemas.microsoft.com/office/drawing/2014/main" id="{4D79ABB4-1F9C-4EA1-B8A8-BC2FE4397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5"/>
          <a:stretch/>
        </p:blipFill>
        <p:spPr bwMode="auto">
          <a:xfrm>
            <a:off x="6292313" y="0"/>
            <a:ext cx="5515732" cy="312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static.thairath.co.th/media/4DQpjUtzLUwmJZZSE5QgMVBSImOreSsgvxKbH1RUP0CX.jpg">
            <a:extLst>
              <a:ext uri="{FF2B5EF4-FFF2-40B4-BE49-F238E27FC236}">
                <a16:creationId xmlns:a16="http://schemas.microsoft.com/office/drawing/2014/main" id="{ED2A11F1-B86F-4114-A727-FB05B524E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54"/>
          <a:stretch/>
        </p:blipFill>
        <p:spPr bwMode="auto">
          <a:xfrm>
            <a:off x="6292313" y="3276520"/>
            <a:ext cx="5515732" cy="331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65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583669" y="447153"/>
            <a:ext cx="1522015" cy="14486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static.thairath.co.th/media/4DQpjUtzLUwmJZZSE5QgMVBSImOreSsgvxKbH1RUP0C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847" y="3579126"/>
            <a:ext cx="4798081" cy="31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encrypted-tbn0.gstatic.com/images?q=tbn:ANd9GcSE1Sr-EgBLFfD-67TNJh3qudmjFiAm9YfGLA&amp;usqp=CA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71380"/>
            <a:ext cx="5154973" cy="343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385" y="726451"/>
            <a:ext cx="816497" cy="45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 rot="5400000">
            <a:off x="10945541" y="512435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08090" y="956889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ounded Rectangle 8"/>
          <p:cNvSpPr/>
          <p:nvPr/>
        </p:nvSpPr>
        <p:spPr>
          <a:xfrm rot="5400000">
            <a:off x="10976193" y="1641583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38742" y="2086037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2773" y="5045660"/>
            <a:ext cx="1753415" cy="1724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ounded Rectangle 12"/>
          <p:cNvSpPr/>
          <p:nvPr/>
        </p:nvSpPr>
        <p:spPr>
          <a:xfrm rot="5400000">
            <a:off x="11005918" y="2938851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68467" y="3383305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le 14"/>
          <p:cNvSpPr/>
          <p:nvPr/>
        </p:nvSpPr>
        <p:spPr>
          <a:xfrm rot="5400000">
            <a:off x="11036570" y="4067999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99119" y="4512453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032" y="4235427"/>
            <a:ext cx="1843614" cy="1812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Oval 17"/>
          <p:cNvSpPr/>
          <p:nvPr/>
        </p:nvSpPr>
        <p:spPr>
          <a:xfrm>
            <a:off x="3657512" y="2299672"/>
            <a:ext cx="1522015" cy="14486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270" y="2741316"/>
            <a:ext cx="816497" cy="45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92" y="2603048"/>
            <a:ext cx="2922329" cy="1346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730" y="3141269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730" y="3293669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30" y="3008212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" y="144882"/>
            <a:ext cx="3165839" cy="2371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3">
            <a:extLst>
              <a:ext uri="{FF2B5EF4-FFF2-40B4-BE49-F238E27FC236}">
                <a16:creationId xmlns:a16="http://schemas.microsoft.com/office/drawing/2014/main" id="{5855495B-6EA7-4D80-B169-ACFE28C7B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335" y="1961838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3">
            <a:extLst>
              <a:ext uri="{FF2B5EF4-FFF2-40B4-BE49-F238E27FC236}">
                <a16:creationId xmlns:a16="http://schemas.microsoft.com/office/drawing/2014/main" id="{B66ADEF9-77D4-4F94-BD8E-84E6777D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899" y="2005035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">
            <a:extLst>
              <a:ext uri="{FF2B5EF4-FFF2-40B4-BE49-F238E27FC236}">
                <a16:creationId xmlns:a16="http://schemas.microsoft.com/office/drawing/2014/main" id="{12669162-A48B-4790-8ABE-B987424BF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35" y="1954041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3">
            <a:extLst>
              <a:ext uri="{FF2B5EF4-FFF2-40B4-BE49-F238E27FC236}">
                <a16:creationId xmlns:a16="http://schemas.microsoft.com/office/drawing/2014/main" id="{EB031032-B758-41A5-B6EB-1F6A08CEA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9" y="486483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>
            <a:extLst>
              <a:ext uri="{FF2B5EF4-FFF2-40B4-BE49-F238E27FC236}">
                <a16:creationId xmlns:a16="http://schemas.microsoft.com/office/drawing/2014/main" id="{D7E1A087-F9FB-4FD4-AF82-90737437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015" y="458898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>
            <a:extLst>
              <a:ext uri="{FF2B5EF4-FFF2-40B4-BE49-F238E27FC236}">
                <a16:creationId xmlns:a16="http://schemas.microsoft.com/office/drawing/2014/main" id="{E24FCFA5-2A62-41AF-8656-322B72662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061" y="493710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3">
            <a:extLst>
              <a:ext uri="{FF2B5EF4-FFF2-40B4-BE49-F238E27FC236}">
                <a16:creationId xmlns:a16="http://schemas.microsoft.com/office/drawing/2014/main" id="{8E700D8C-BC8D-43FD-B4F8-F5B74A569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37" y="496338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3">
            <a:extLst>
              <a:ext uri="{FF2B5EF4-FFF2-40B4-BE49-F238E27FC236}">
                <a16:creationId xmlns:a16="http://schemas.microsoft.com/office/drawing/2014/main" id="{E6220F57-80C5-4096-A899-978C75F4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2" y="3974062"/>
            <a:ext cx="2966791" cy="2904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755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457200"/>
            <a:ext cx="2581275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856" y="457200"/>
            <a:ext cx="5390535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>
            <a:hlinkClick r:id="rId4"/>
          </p:cNvPr>
          <p:cNvSpPr/>
          <p:nvPr/>
        </p:nvSpPr>
        <p:spPr>
          <a:xfrm>
            <a:off x="2362201" y="-1861"/>
            <a:ext cx="1528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CST </a:t>
            </a:r>
            <a:r>
              <a:rPr lang="th-TH" b="1" u="sng" dirty="0"/>
              <a:t>รุ่น </a:t>
            </a:r>
            <a:r>
              <a:rPr lang="en-US" b="1" u="sng" dirty="0"/>
              <a:t>CDR-15</a:t>
            </a:r>
            <a:endParaRPr lang="en-US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142" y="3429000"/>
            <a:ext cx="2412134" cy="1515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23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chalermchon\Downloads\27770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462" y="94369"/>
            <a:ext cx="5003075" cy="666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072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5305-CA7B-4B88-BC51-EC1C0924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37" y="18255"/>
            <a:ext cx="10515600" cy="1325563"/>
          </a:xfrm>
        </p:spPr>
        <p:txBody>
          <a:bodyPr/>
          <a:lstStyle/>
          <a:p>
            <a:r>
              <a:rPr lang="en-US" dirty="0"/>
              <a:t>Production Note  Lab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A20CC-E7B1-4F17-BFF5-5DBB57552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32F0B-78C5-4315-99AB-023443289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5" y="1411261"/>
            <a:ext cx="11942849" cy="5446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18A68D-41F1-BBDF-46EF-65AAA30B5D49}"/>
              </a:ext>
            </a:extLst>
          </p:cNvPr>
          <p:cNvSpPr txBox="1"/>
          <p:nvPr/>
        </p:nvSpPr>
        <p:spPr>
          <a:xfrm>
            <a:off x="6677025" y="-3082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757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6583E-DE00-423D-83A7-F74C5E2E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" y="530337"/>
            <a:ext cx="7235698" cy="4658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E0FC3-CA57-4042-AC5E-1225C74926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487"/>
          <a:stretch/>
        </p:blipFill>
        <p:spPr>
          <a:xfrm>
            <a:off x="479611" y="5265205"/>
            <a:ext cx="5898331" cy="1589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059A54-408B-46E0-AD4D-A70DA1DF9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387" y="945774"/>
            <a:ext cx="2873639" cy="16067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240FC-90ED-41A2-8A01-C66538EB7B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54"/>
          <a:stretch/>
        </p:blipFill>
        <p:spPr>
          <a:xfrm>
            <a:off x="7615157" y="5725278"/>
            <a:ext cx="4576843" cy="8178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E06DD5-3F17-4057-98FB-5F29489D2E0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933"/>
          <a:stretch/>
        </p:blipFill>
        <p:spPr>
          <a:xfrm>
            <a:off x="7615157" y="2765755"/>
            <a:ext cx="4533919" cy="7889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FBF882-1B76-481C-9FA8-8C1627A2D3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682" y="3767963"/>
            <a:ext cx="2804344" cy="1711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F0E051-719C-42E0-9EE8-993BEDDEC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5157" y="945774"/>
            <a:ext cx="779718" cy="6353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213ACB-0769-460A-AE81-1489EF69BC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510" y="1784596"/>
            <a:ext cx="1867161" cy="1362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D6A13B-E19B-2697-177C-C11465526A42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การแสดงข้อมูลด้วยเงื่อนไขตัวเลข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F3EC1-1EF3-3C61-A431-B55ACA705ECF}"/>
              </a:ext>
            </a:extLst>
          </p:cNvPr>
          <p:cNvSpPr txBox="1"/>
          <p:nvPr/>
        </p:nvSpPr>
        <p:spPr>
          <a:xfrm>
            <a:off x="58548" y="83020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2.1  Query Criteria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02CEE-8FB1-E649-F3F1-0C000420C156}"/>
              </a:ext>
            </a:extLst>
          </p:cNvPr>
          <p:cNvSpPr txBox="1"/>
          <p:nvPr/>
        </p:nvSpPr>
        <p:spPr>
          <a:xfrm>
            <a:off x="10392983" y="314878"/>
            <a:ext cx="158115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Lab 1.1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D103A-0E0A-0F00-F081-30D69EA3C33B}"/>
              </a:ext>
            </a:extLst>
          </p:cNvPr>
          <p:cNvSpPr txBox="1"/>
          <p:nvPr/>
        </p:nvSpPr>
        <p:spPr>
          <a:xfrm>
            <a:off x="10610850" y="4480197"/>
            <a:ext cx="158115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Lab 1.2</a:t>
            </a:r>
          </a:p>
        </p:txBody>
      </p:sp>
    </p:spTree>
    <p:extLst>
      <p:ext uri="{BB962C8B-B14F-4D97-AF65-F5344CB8AC3E}">
        <p14:creationId xmlns:p14="http://schemas.microsoft.com/office/powerpoint/2010/main" val="363522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4258D9-2836-9C4E-B99F-38AF834C9F95}"/>
              </a:ext>
            </a:extLst>
          </p:cNvPr>
          <p:cNvSpPr txBox="1"/>
          <p:nvPr/>
        </p:nvSpPr>
        <p:spPr>
          <a:xfrm>
            <a:off x="290512" y="676153"/>
            <a:ext cx="40386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column2, ...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4B54B-4856-E557-843B-2152BA0A4807}"/>
              </a:ext>
            </a:extLst>
          </p:cNvPr>
          <p:cNvSpPr txBox="1"/>
          <p:nvPr/>
        </p:nvSpPr>
        <p:spPr>
          <a:xfrm>
            <a:off x="290512" y="1469053"/>
            <a:ext cx="39338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DFD0D4-A4B6-3EAB-0465-E2918C03F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187"/>
            <a:ext cx="12192000" cy="4339525"/>
          </a:xfrm>
          <a:prstGeom prst="rect">
            <a:avLst/>
          </a:prstGeom>
        </p:spPr>
      </p:pic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51769E33-CD9F-11A2-F495-CDD496AE7736}"/>
              </a:ext>
            </a:extLst>
          </p:cNvPr>
          <p:cNvSpPr txBox="1"/>
          <p:nvPr/>
        </p:nvSpPr>
        <p:spPr>
          <a:xfrm>
            <a:off x="238125" y="20138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https://www.w3schools.com/sql/sql_select.asp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9A7BE-515D-2B30-0770-E6D40456E9A3}"/>
              </a:ext>
            </a:extLst>
          </p:cNvPr>
          <p:cNvSpPr txBox="1"/>
          <p:nvPr/>
        </p:nvSpPr>
        <p:spPr>
          <a:xfrm>
            <a:off x="6238875" y="744840"/>
            <a:ext cx="43434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column2, ...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4E640-E02C-0360-9EE7-B4791DD6F3AE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รูปแบบคำสั่ง </a:t>
            </a:r>
            <a:r>
              <a:rPr lang="en-US" sz="2800" b="1" dirty="0">
                <a:solidFill>
                  <a:srgbClr val="002060"/>
                </a:solidFill>
              </a:rPr>
              <a:t>Select (SQL)</a:t>
            </a:r>
          </a:p>
        </p:txBody>
      </p:sp>
    </p:spTree>
    <p:extLst>
      <p:ext uri="{BB962C8B-B14F-4D97-AF65-F5344CB8AC3E}">
        <p14:creationId xmlns:p14="http://schemas.microsoft.com/office/powerpoint/2010/main" val="2821421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6583E-DE00-423D-83A7-F74C5E2E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5" y="14748"/>
            <a:ext cx="7428536" cy="4782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E0FC3-CA57-4042-AC5E-1225C7492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0" y="4826791"/>
            <a:ext cx="6396660" cy="2114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78DDA5-F37D-4BBD-8CCF-A4216B949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513" y="561078"/>
            <a:ext cx="1905995" cy="1422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AC578C-6FF7-4A8E-BE56-2CD676F4F2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63" t="5279" b="1"/>
          <a:stretch/>
        </p:blipFill>
        <p:spPr>
          <a:xfrm>
            <a:off x="7500895" y="3633531"/>
            <a:ext cx="4594949" cy="755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B7D5CE-DB6C-4103-BA82-F5D31369B9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513" y="2195943"/>
            <a:ext cx="2018723" cy="14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6CC4C7-991A-4FE5-B03B-246B43DBEE7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164" t="-12795" b="1"/>
          <a:stretch/>
        </p:blipFill>
        <p:spPr>
          <a:xfrm>
            <a:off x="7432575" y="5868736"/>
            <a:ext cx="4731588" cy="9293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E8137E-611B-499B-8844-F46400A72A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0116" y="4607685"/>
            <a:ext cx="1835392" cy="12610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8668DF-8FB5-4385-A117-1DEC1D2A9009}"/>
              </a:ext>
            </a:extLst>
          </p:cNvPr>
          <p:cNvSpPr txBox="1"/>
          <p:nvPr/>
        </p:nvSpPr>
        <p:spPr>
          <a:xfrm>
            <a:off x="10030563" y="2605547"/>
            <a:ext cx="21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Like “</a:t>
            </a:r>
            <a:r>
              <a:rPr lang="th-TH" sz="2800" dirty="0"/>
              <a:t>สินค้า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en-US" sz="2800" dirty="0"/>
              <a:t>”</a:t>
            </a:r>
            <a:endParaRPr lang="th-TH" sz="2800" dirty="0"/>
          </a:p>
          <a:p>
            <a:r>
              <a:rPr lang="th-TH" sz="2800" dirty="0"/>
              <a:t>ขึ้นต้นด้วย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6550C3-F8BF-4CC7-B57B-55151D495E52}"/>
              </a:ext>
            </a:extLst>
          </p:cNvPr>
          <p:cNvSpPr txBox="1"/>
          <p:nvPr/>
        </p:nvSpPr>
        <p:spPr>
          <a:xfrm>
            <a:off x="9818424" y="5097377"/>
            <a:ext cx="21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Like “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th-TH" sz="2800" dirty="0"/>
              <a:t>กุ้ง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en-US" sz="2800" dirty="0"/>
              <a:t>”</a:t>
            </a:r>
            <a:endParaRPr lang="th-TH" sz="2800" dirty="0"/>
          </a:p>
          <a:p>
            <a:r>
              <a:rPr lang="th-TH" sz="2800" dirty="0"/>
              <a:t>อยู่ระห่างคำหัวท้าย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5BACE-68C2-4EBF-8435-6B8EEAF05429}"/>
              </a:ext>
            </a:extLst>
          </p:cNvPr>
          <p:cNvSpPr txBox="1"/>
          <p:nvPr/>
        </p:nvSpPr>
        <p:spPr>
          <a:xfrm>
            <a:off x="9843950" y="734591"/>
            <a:ext cx="2133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“</a:t>
            </a:r>
            <a:r>
              <a:rPr lang="th-TH" sz="2800" dirty="0"/>
              <a:t>สินค้า</a:t>
            </a:r>
            <a:r>
              <a:rPr lang="en-US" sz="2800" dirty="0"/>
              <a:t>”</a:t>
            </a:r>
          </a:p>
          <a:p>
            <a:r>
              <a:rPr lang="en-US" sz="2800" dirty="0"/>
              <a:t>= “</a:t>
            </a:r>
            <a:r>
              <a:rPr lang="th-TH" sz="2800" dirty="0"/>
              <a:t>สินค้า</a:t>
            </a:r>
            <a:r>
              <a:rPr lang="en-US" sz="2800" dirty="0"/>
              <a:t>”</a:t>
            </a:r>
            <a:endParaRPr lang="th-TH" sz="2800" dirty="0"/>
          </a:p>
          <a:p>
            <a:r>
              <a:rPr lang="th-TH" sz="2800" dirty="0"/>
              <a:t>เท่ากับคำที่ค้นหา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63BE1-C9B5-5400-9816-5B1925FB8EAD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การแสดงข้อมูลด้วยเงื่อนไขตัวอักษร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0149B-8AF5-CE3E-1B2C-E442696B79F6}"/>
              </a:ext>
            </a:extLst>
          </p:cNvPr>
          <p:cNvSpPr txBox="1"/>
          <p:nvPr/>
        </p:nvSpPr>
        <p:spPr>
          <a:xfrm>
            <a:off x="58548" y="83020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2.1  Query Criteria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9715A-4CCE-7B41-194D-FA2E56FB7E48}"/>
              </a:ext>
            </a:extLst>
          </p:cNvPr>
          <p:cNvSpPr txBox="1"/>
          <p:nvPr/>
        </p:nvSpPr>
        <p:spPr>
          <a:xfrm>
            <a:off x="10334625" y="21967"/>
            <a:ext cx="158115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Lab 1.3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E17E5-308F-0D0C-A7C0-EA6A90764233}"/>
              </a:ext>
            </a:extLst>
          </p:cNvPr>
          <p:cNvSpPr txBox="1"/>
          <p:nvPr/>
        </p:nvSpPr>
        <p:spPr>
          <a:xfrm>
            <a:off x="10334625" y="2038469"/>
            <a:ext cx="158115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Lab 1.4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85820C-0E01-28F6-741F-C4D7E65A6009}"/>
              </a:ext>
            </a:extLst>
          </p:cNvPr>
          <p:cNvSpPr txBox="1"/>
          <p:nvPr/>
        </p:nvSpPr>
        <p:spPr>
          <a:xfrm>
            <a:off x="10306788" y="4512605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1.5</a:t>
            </a:r>
          </a:p>
        </p:txBody>
      </p:sp>
    </p:spTree>
    <p:extLst>
      <p:ext uri="{BB962C8B-B14F-4D97-AF65-F5344CB8AC3E}">
        <p14:creationId xmlns:p14="http://schemas.microsoft.com/office/powerpoint/2010/main" val="3571728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F645F68E-0175-4AF3-A230-52D2765AA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39"/>
          <a:stretch/>
        </p:blipFill>
        <p:spPr bwMode="auto">
          <a:xfrm>
            <a:off x="8740583" y="2328594"/>
            <a:ext cx="3164302" cy="1283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C8FF524C-D7DD-4875-A5AB-2F1FA780E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" b="20578"/>
          <a:stretch/>
        </p:blipFill>
        <p:spPr bwMode="auto">
          <a:xfrm>
            <a:off x="8724282" y="675034"/>
            <a:ext cx="2991876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">
            <a:extLst>
              <a:ext uri="{FF2B5EF4-FFF2-40B4-BE49-F238E27FC236}">
                <a16:creationId xmlns:a16="http://schemas.microsoft.com/office/drawing/2014/main" id="{DAD1B82F-E473-4477-A28F-06634A383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53" b="30383"/>
          <a:stretch/>
        </p:blipFill>
        <p:spPr bwMode="auto">
          <a:xfrm>
            <a:off x="475842" y="474156"/>
            <a:ext cx="7132560" cy="1189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A7B01-BAE2-49C2-A6FE-0DA4482314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5042"/>
          <a:stretch/>
        </p:blipFill>
        <p:spPr>
          <a:xfrm>
            <a:off x="571379" y="1614347"/>
            <a:ext cx="5873996" cy="20350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EB57D1-9C05-4E8C-8527-5A16AFAACE2A}"/>
              </a:ext>
            </a:extLst>
          </p:cNvPr>
          <p:cNvCxnSpPr>
            <a:cxnSpLocks/>
          </p:cNvCxnSpPr>
          <p:nvPr/>
        </p:nvCxnSpPr>
        <p:spPr>
          <a:xfrm>
            <a:off x="7636323" y="1011527"/>
            <a:ext cx="1585865" cy="41272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A9856F-A338-4948-B566-B15394BE0193}"/>
              </a:ext>
            </a:extLst>
          </p:cNvPr>
          <p:cNvCxnSpPr>
            <a:cxnSpLocks/>
          </p:cNvCxnSpPr>
          <p:nvPr/>
        </p:nvCxnSpPr>
        <p:spPr>
          <a:xfrm>
            <a:off x="6746274" y="1484429"/>
            <a:ext cx="2676779" cy="17737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C7A3F13-01D4-4E74-B733-CD42B40E0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5" y="3598626"/>
            <a:ext cx="9389513" cy="154138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2E4B682-68F4-4FFB-B499-2D88998C8C8A}"/>
              </a:ext>
            </a:extLst>
          </p:cNvPr>
          <p:cNvSpPr txBox="1"/>
          <p:nvPr/>
        </p:nvSpPr>
        <p:spPr>
          <a:xfrm>
            <a:off x="8241707" y="4593329"/>
            <a:ext cx="5074521" cy="693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</a:pP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&lt; 500 </a:t>
            </a:r>
            <a:r>
              <a:rPr lang="en-US" sz="24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AND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1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</a:p>
          <a:p>
            <a:pPr lvl="0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</a:pP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&gt; 100,000 </a:t>
            </a:r>
            <a:r>
              <a:rPr lang="en-US" sz="24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AND 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2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en-US" sz="2000" dirty="0">
              <a:effectLst/>
              <a:latin typeface="Cordia New" panose="020B0304020202020204" pitchFamily="34" charset="-34"/>
              <a:ea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DB4889-087E-4965-B0FB-6FC987F1AA34}"/>
              </a:ext>
            </a:extLst>
          </p:cNvPr>
          <p:cNvSpPr txBox="1"/>
          <p:nvPr/>
        </p:nvSpPr>
        <p:spPr>
          <a:xfrm>
            <a:off x="521300" y="5140012"/>
            <a:ext cx="752547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"/>
            </a:pP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&lt; 500 AND 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1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OR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 (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&gt; 100,000 AND 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2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en-US" sz="2000" dirty="0">
              <a:effectLst/>
              <a:latin typeface="Cordia New" panose="020B0304020202020204" pitchFamily="34" charset="-34"/>
              <a:ea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49BE6C52-2301-43A4-BD08-A8FF4950CD44}"/>
              </a:ext>
            </a:extLst>
          </p:cNvPr>
          <p:cNvSpPr/>
          <p:nvPr/>
        </p:nvSpPr>
        <p:spPr>
          <a:xfrm flipH="1">
            <a:off x="3409557" y="4593279"/>
            <a:ext cx="197640" cy="40011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78AD46-68FE-4347-BB89-0E5FF767ABC1}"/>
              </a:ext>
            </a:extLst>
          </p:cNvPr>
          <p:cNvSpPr txBox="1"/>
          <p:nvPr/>
        </p:nvSpPr>
        <p:spPr>
          <a:xfrm>
            <a:off x="2917520" y="4657854"/>
            <a:ext cx="492037" cy="36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OR</a:t>
            </a:r>
            <a:r>
              <a:rPr lang="en-US" sz="18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dirty="0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38C71202-F853-48C9-BD1A-A2639C7278D0}"/>
              </a:ext>
            </a:extLst>
          </p:cNvPr>
          <p:cNvSpPr/>
          <p:nvPr/>
        </p:nvSpPr>
        <p:spPr>
          <a:xfrm flipV="1">
            <a:off x="7997751" y="5326344"/>
            <a:ext cx="742832" cy="400110"/>
          </a:xfrm>
          <a:prstGeom prst="bent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996A88-A261-49F6-8B35-5360BAEB3595}"/>
              </a:ext>
            </a:extLst>
          </p:cNvPr>
          <p:cNvCxnSpPr>
            <a:cxnSpLocks/>
          </p:cNvCxnSpPr>
          <p:nvPr/>
        </p:nvCxnSpPr>
        <p:spPr>
          <a:xfrm>
            <a:off x="5026903" y="4740164"/>
            <a:ext cx="2248144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28B715-3723-4340-8000-DCF1098882DE}"/>
              </a:ext>
            </a:extLst>
          </p:cNvPr>
          <p:cNvCxnSpPr>
            <a:cxnSpLocks/>
          </p:cNvCxnSpPr>
          <p:nvPr/>
        </p:nvCxnSpPr>
        <p:spPr>
          <a:xfrm>
            <a:off x="5026903" y="4993389"/>
            <a:ext cx="2248144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row: Bent-Up 39">
            <a:extLst>
              <a:ext uri="{FF2B5EF4-FFF2-40B4-BE49-F238E27FC236}">
                <a16:creationId xmlns:a16="http://schemas.microsoft.com/office/drawing/2014/main" id="{0C777A30-A266-477F-B282-B6925D3540C3}"/>
              </a:ext>
            </a:extLst>
          </p:cNvPr>
          <p:cNvSpPr/>
          <p:nvPr/>
        </p:nvSpPr>
        <p:spPr>
          <a:xfrm flipH="1" flipV="1">
            <a:off x="2518396" y="4740164"/>
            <a:ext cx="402968" cy="400110"/>
          </a:xfrm>
          <a:prstGeom prst="bent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EAFB875-3A75-4707-976F-AB25819573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900" y="5739766"/>
            <a:ext cx="10908817" cy="10611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3BA2E-2CB1-CCCD-803D-549357AAADE9}"/>
              </a:ext>
            </a:extLst>
          </p:cNvPr>
          <p:cNvSpPr txBox="1"/>
          <p:nvPr/>
        </p:nvSpPr>
        <p:spPr>
          <a:xfrm>
            <a:off x="-1905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การกำหนดเงื่อนไขที่ซับซ้อน 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DA378-5867-C49C-E231-2944752DC848}"/>
              </a:ext>
            </a:extLst>
          </p:cNvPr>
          <p:cNvSpPr txBox="1"/>
          <p:nvPr/>
        </p:nvSpPr>
        <p:spPr>
          <a:xfrm>
            <a:off x="58548" y="83020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2.1  Query Criteria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07D81-2859-E505-4908-81BB3F5E2B95}"/>
              </a:ext>
            </a:extLst>
          </p:cNvPr>
          <p:cNvSpPr txBox="1"/>
          <p:nvPr/>
        </p:nvSpPr>
        <p:spPr>
          <a:xfrm>
            <a:off x="9988392" y="4001065"/>
            <a:ext cx="158115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Lab 1.6</a:t>
            </a:r>
          </a:p>
        </p:txBody>
      </p:sp>
    </p:spTree>
    <p:extLst>
      <p:ext uri="{BB962C8B-B14F-4D97-AF65-F5344CB8AC3E}">
        <p14:creationId xmlns:p14="http://schemas.microsoft.com/office/powerpoint/2010/main" val="3182395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F645F68E-0175-4AF3-A230-52D2765AA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39"/>
          <a:stretch/>
        </p:blipFill>
        <p:spPr bwMode="auto">
          <a:xfrm>
            <a:off x="8677922" y="2135323"/>
            <a:ext cx="3164302" cy="1283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C8FF524C-D7DD-4875-A5AB-2F1FA780E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" b="20578"/>
          <a:stretch/>
        </p:blipFill>
        <p:spPr bwMode="auto">
          <a:xfrm>
            <a:off x="8704598" y="535161"/>
            <a:ext cx="2991876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">
            <a:extLst>
              <a:ext uri="{FF2B5EF4-FFF2-40B4-BE49-F238E27FC236}">
                <a16:creationId xmlns:a16="http://schemas.microsoft.com/office/drawing/2014/main" id="{DAD1B82F-E473-4477-A28F-06634A383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53" b="30383"/>
          <a:stretch/>
        </p:blipFill>
        <p:spPr bwMode="auto">
          <a:xfrm>
            <a:off x="226646" y="513582"/>
            <a:ext cx="7507035" cy="125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EB57D1-9C05-4E8C-8527-5A16AFAACE2A}"/>
              </a:ext>
            </a:extLst>
          </p:cNvPr>
          <p:cNvCxnSpPr>
            <a:cxnSpLocks/>
            <a:stCxn id="1028" idx="3"/>
          </p:cNvCxnSpPr>
          <p:nvPr/>
        </p:nvCxnSpPr>
        <p:spPr>
          <a:xfrm>
            <a:off x="7733681" y="1139595"/>
            <a:ext cx="1622640" cy="16019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24B9F2B-3E85-4F2E-B7A8-DF563D449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46" y="5476192"/>
            <a:ext cx="9018083" cy="13424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4C68BF-CD52-4851-B636-B322954F2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46" y="1713385"/>
            <a:ext cx="7428567" cy="402740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A9856F-A338-4948-B566-B15394BE0193}"/>
              </a:ext>
            </a:extLst>
          </p:cNvPr>
          <p:cNvCxnSpPr>
            <a:cxnSpLocks/>
          </p:cNvCxnSpPr>
          <p:nvPr/>
        </p:nvCxnSpPr>
        <p:spPr>
          <a:xfrm>
            <a:off x="6710289" y="1540681"/>
            <a:ext cx="3334043" cy="144284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539FD83-C2EC-B2C0-E57F-3C728E620925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การเชื่อมโยงข้อมูลระหว่างตารางด้วยรหัส </a:t>
            </a:r>
            <a:r>
              <a:rPr lang="en-US" sz="2800" b="1" dirty="0">
                <a:solidFill>
                  <a:srgbClr val="002060"/>
                </a:solidFill>
              </a:rPr>
              <a:t>(Join Table)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0EF9A8-9A0B-E5B8-9461-058DE29CF8E4}"/>
              </a:ext>
            </a:extLst>
          </p:cNvPr>
          <p:cNvSpPr txBox="1"/>
          <p:nvPr/>
        </p:nvSpPr>
        <p:spPr>
          <a:xfrm>
            <a:off x="58548" y="83020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2.1  Query Criteria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93F81-CF8C-E645-AF41-E152DFD60633}"/>
              </a:ext>
            </a:extLst>
          </p:cNvPr>
          <p:cNvSpPr txBox="1"/>
          <p:nvPr/>
        </p:nvSpPr>
        <p:spPr>
          <a:xfrm>
            <a:off x="42924" y="66571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2.2  Query Join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A5B66-B847-8EBB-DADE-A66326C83724}"/>
              </a:ext>
            </a:extLst>
          </p:cNvPr>
          <p:cNvSpPr txBox="1"/>
          <p:nvPr/>
        </p:nvSpPr>
        <p:spPr>
          <a:xfrm>
            <a:off x="8545001" y="3661348"/>
            <a:ext cx="287582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แสดงข้อมูลรายละเอียดสินค้า ประเภท และ หน่วย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19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6FAF40-6E04-4120-9E88-8CDAD83C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62" y="504065"/>
            <a:ext cx="5249008" cy="1886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00DB4-0E27-4BDC-A418-9CF6A4C43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999" y="736679"/>
            <a:ext cx="3029373" cy="11907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7B7F9E-E2A9-4972-BEDE-27DF4D0AF23C}"/>
              </a:ext>
            </a:extLst>
          </p:cNvPr>
          <p:cNvSpPr/>
          <p:nvPr/>
        </p:nvSpPr>
        <p:spPr>
          <a:xfrm>
            <a:off x="4194928" y="540274"/>
            <a:ext cx="1470581" cy="1886213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CF8B9-0E0A-4C75-B8D8-4C4AF1B1856E}"/>
              </a:ext>
            </a:extLst>
          </p:cNvPr>
          <p:cNvSpPr/>
          <p:nvPr/>
        </p:nvSpPr>
        <p:spPr>
          <a:xfrm>
            <a:off x="6478436" y="692674"/>
            <a:ext cx="1470581" cy="13653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BB5975-D13E-4B91-B4D5-7609F7BDC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99" y="2435349"/>
            <a:ext cx="7773202" cy="247754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4A08CA-3733-4911-A01B-A6DB64DE69C1}"/>
              </a:ext>
            </a:extLst>
          </p:cNvPr>
          <p:cNvCxnSpPr/>
          <p:nvPr/>
        </p:nvCxnSpPr>
        <p:spPr>
          <a:xfrm>
            <a:off x="1970196" y="4123974"/>
            <a:ext cx="4967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6E423C9-A794-4CB8-BE98-577B79FEF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62" y="5003040"/>
            <a:ext cx="8707403" cy="178838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FFA3C2-08B7-4314-B946-A25C9651E71D}"/>
              </a:ext>
            </a:extLst>
          </p:cNvPr>
          <p:cNvCxnSpPr>
            <a:cxnSpLocks/>
          </p:cNvCxnSpPr>
          <p:nvPr/>
        </p:nvCxnSpPr>
        <p:spPr>
          <a:xfrm>
            <a:off x="5441009" y="1149278"/>
            <a:ext cx="1082990" cy="182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7A8318-6BBE-4CA9-82FB-55FCC5FDDBD8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400675" y="1375332"/>
            <a:ext cx="1077761" cy="24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1A5C8E-1DD6-400D-A158-0AF7BBB4C2F9}"/>
              </a:ext>
            </a:extLst>
          </p:cNvPr>
          <p:cNvCxnSpPr>
            <a:cxnSpLocks/>
          </p:cNvCxnSpPr>
          <p:nvPr/>
        </p:nvCxnSpPr>
        <p:spPr>
          <a:xfrm flipV="1">
            <a:off x="5454079" y="1625388"/>
            <a:ext cx="1235636" cy="4157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184EC1-DAF5-45A9-A62A-3F4200D3EA13}"/>
              </a:ext>
            </a:extLst>
          </p:cNvPr>
          <p:cNvCxnSpPr>
            <a:cxnSpLocks/>
          </p:cNvCxnSpPr>
          <p:nvPr/>
        </p:nvCxnSpPr>
        <p:spPr>
          <a:xfrm flipV="1">
            <a:off x="5524500" y="1861475"/>
            <a:ext cx="1210778" cy="4038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F100E4-829B-5F6C-58D6-FF54F60645C5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การเชื่อมโยงข้อมูลระหว่างตาราง </a:t>
            </a:r>
            <a:r>
              <a:rPr lang="en-US" sz="2800" b="1" dirty="0">
                <a:solidFill>
                  <a:srgbClr val="002060"/>
                </a:solidFill>
              </a:rPr>
              <a:t>(Left/Right</a:t>
            </a:r>
            <a:r>
              <a:rPr lang="th-TH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Join Table)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699A8-661C-79F2-55F0-83E9DDB7EFB8}"/>
              </a:ext>
            </a:extLst>
          </p:cNvPr>
          <p:cNvSpPr txBox="1"/>
          <p:nvPr/>
        </p:nvSpPr>
        <p:spPr>
          <a:xfrm>
            <a:off x="0" y="20369"/>
            <a:ext cx="2466975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2.2  Query Join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691C6-DEFF-03BD-2176-1AA1C2BE1257}"/>
              </a:ext>
            </a:extLst>
          </p:cNvPr>
          <p:cNvSpPr txBox="1"/>
          <p:nvPr/>
        </p:nvSpPr>
        <p:spPr>
          <a:xfrm>
            <a:off x="10258888" y="609260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62C97-3482-8364-BD15-B01444FB4309}"/>
              </a:ext>
            </a:extLst>
          </p:cNvPr>
          <p:cNvSpPr txBox="1"/>
          <p:nvPr/>
        </p:nvSpPr>
        <p:spPr>
          <a:xfrm>
            <a:off x="8820977" y="2474893"/>
            <a:ext cx="287582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แสดงชื่อกลุ่มงานของแต่ละพนักงาน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642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04ECDA2-BAD9-4BD7-A702-2EF344EC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02" y="2141661"/>
            <a:ext cx="8149113" cy="2644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6FAF40-6E04-4120-9E88-8CDAD83C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8" y="103219"/>
            <a:ext cx="5249008" cy="1886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00DB4-0E27-4BDC-A418-9CF6A4C4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999" y="450929"/>
            <a:ext cx="3029373" cy="11907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7B7F9E-E2A9-4972-BEDE-27DF4D0AF23C}"/>
              </a:ext>
            </a:extLst>
          </p:cNvPr>
          <p:cNvSpPr/>
          <p:nvPr/>
        </p:nvSpPr>
        <p:spPr>
          <a:xfrm>
            <a:off x="4194928" y="254524"/>
            <a:ext cx="1470581" cy="1886213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CF8B9-0E0A-4C75-B8D8-4C4AF1B1856E}"/>
              </a:ext>
            </a:extLst>
          </p:cNvPr>
          <p:cNvSpPr/>
          <p:nvPr/>
        </p:nvSpPr>
        <p:spPr>
          <a:xfrm>
            <a:off x="6478436" y="406924"/>
            <a:ext cx="1470581" cy="13653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4A08CA-3733-4911-A01B-A6DB64DE69C1}"/>
              </a:ext>
            </a:extLst>
          </p:cNvPr>
          <p:cNvCxnSpPr>
            <a:cxnSpLocks/>
          </p:cNvCxnSpPr>
          <p:nvPr/>
        </p:nvCxnSpPr>
        <p:spPr>
          <a:xfrm>
            <a:off x="2145973" y="3947081"/>
            <a:ext cx="501977" cy="0"/>
          </a:xfrm>
          <a:prstGeom prst="line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FFA3C2-08B7-4314-B946-A25C9651E71D}"/>
              </a:ext>
            </a:extLst>
          </p:cNvPr>
          <p:cNvCxnSpPr/>
          <p:nvPr/>
        </p:nvCxnSpPr>
        <p:spPr>
          <a:xfrm>
            <a:off x="5391150" y="723900"/>
            <a:ext cx="1132849" cy="322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7A8318-6BBE-4CA9-82FB-55FCC5FDDBD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391150" y="960765"/>
            <a:ext cx="1087286" cy="128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1A5C8E-1DD6-400D-A158-0AF7BBB4C2F9}"/>
              </a:ext>
            </a:extLst>
          </p:cNvPr>
          <p:cNvCxnSpPr>
            <a:cxnSpLocks/>
          </p:cNvCxnSpPr>
          <p:nvPr/>
        </p:nvCxnSpPr>
        <p:spPr>
          <a:xfrm flipV="1">
            <a:off x="5453927" y="1339638"/>
            <a:ext cx="1235788" cy="302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184EC1-DAF5-45A9-A62A-3F4200D3EA13}"/>
              </a:ext>
            </a:extLst>
          </p:cNvPr>
          <p:cNvCxnSpPr>
            <a:cxnSpLocks/>
          </p:cNvCxnSpPr>
          <p:nvPr/>
        </p:nvCxnSpPr>
        <p:spPr>
          <a:xfrm flipV="1">
            <a:off x="5498891" y="1621463"/>
            <a:ext cx="1235788" cy="302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47A50EA-F402-4003-AD65-45E5EEBB0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02" y="4820431"/>
            <a:ext cx="7170180" cy="20375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B08136-6273-4C00-AA8B-8DB9AEC91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11" y="5071025"/>
            <a:ext cx="2884387" cy="14919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8BC37A-18BA-449C-B231-6BB6C6B114C0}"/>
              </a:ext>
            </a:extLst>
          </p:cNvPr>
          <p:cNvSpPr txBox="1"/>
          <p:nvPr/>
        </p:nvSpPr>
        <p:spPr>
          <a:xfrm>
            <a:off x="10788428" y="6178866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Is Null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77337-A7E1-1159-42D4-063C9E1F7860}"/>
              </a:ext>
            </a:extLst>
          </p:cNvPr>
          <p:cNvSpPr txBox="1"/>
          <p:nvPr/>
        </p:nvSpPr>
        <p:spPr>
          <a:xfrm>
            <a:off x="8873676" y="3132109"/>
            <a:ext cx="287582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การกำหนดข้อมูลทั้งหมดจากตาราง </a:t>
            </a:r>
            <a:r>
              <a:rPr lang="en-US" sz="2800" b="1" dirty="0">
                <a:solidFill>
                  <a:srgbClr val="002060"/>
                </a:solidFill>
              </a:rPr>
              <a:t>Worker </a:t>
            </a:r>
          </a:p>
          <a:p>
            <a:pPr algn="ctr"/>
            <a:r>
              <a:rPr lang="en-US" sz="2800" b="1" dirty="0">
                <a:solidFill>
                  <a:srgbClr val="002060"/>
                </a:solidFill>
              </a:rPr>
              <a:t>(Join Table)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146554-BF4C-119B-74D9-667FC80B899C}"/>
              </a:ext>
            </a:extLst>
          </p:cNvPr>
          <p:cNvSpPr txBox="1"/>
          <p:nvPr/>
        </p:nvSpPr>
        <p:spPr>
          <a:xfrm>
            <a:off x="8617908" y="0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2.2  Query Join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9C9D8-EB74-92C3-38B8-0998B229A7B6}"/>
              </a:ext>
            </a:extLst>
          </p:cNvPr>
          <p:cNvSpPr txBox="1"/>
          <p:nvPr/>
        </p:nvSpPr>
        <p:spPr>
          <a:xfrm>
            <a:off x="10268752" y="584659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DFDFEE-DC17-CD67-D8B3-6D6809FD234F}"/>
              </a:ext>
            </a:extLst>
          </p:cNvPr>
          <p:cNvSpPr txBox="1"/>
          <p:nvPr/>
        </p:nvSpPr>
        <p:spPr>
          <a:xfrm>
            <a:off x="8845903" y="1582606"/>
            <a:ext cx="287582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ค้นหาคนที่ยังไม่ได้กำหนดกลุ่มงาน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753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1C25C-BB00-432A-9124-CE276B046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86" y="80854"/>
            <a:ext cx="6922550" cy="2490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EF5FE1-B96B-408D-9E24-649787BBB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992" y="1036015"/>
            <a:ext cx="1779108" cy="2102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7FCED-44EE-4AF0-BE54-0549B8E408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471"/>
          <a:stretch/>
        </p:blipFill>
        <p:spPr>
          <a:xfrm>
            <a:off x="3528791" y="3138596"/>
            <a:ext cx="2036168" cy="1834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525406-B2F6-459E-8384-1892390250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798" r="18818"/>
          <a:stretch/>
        </p:blipFill>
        <p:spPr>
          <a:xfrm>
            <a:off x="204485" y="2653436"/>
            <a:ext cx="3291189" cy="4127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5E484-70AA-4E78-923A-9CC6DC81EB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418" y="900002"/>
            <a:ext cx="1024306" cy="14884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2183AF-90EF-40AB-A395-63A760F373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878" y="2478660"/>
            <a:ext cx="3209382" cy="42984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5C578D-579E-4ED0-B14B-39A43D879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9992" y="3925940"/>
            <a:ext cx="2015716" cy="1522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A10D-405F-3437-9F4C-DA0D95DFA6B5}"/>
              </a:ext>
            </a:extLst>
          </p:cNvPr>
          <p:cNvSpPr txBox="1"/>
          <p:nvPr/>
        </p:nvSpPr>
        <p:spPr>
          <a:xfrm>
            <a:off x="7226385" y="169"/>
            <a:ext cx="440977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การจัดกลุ่มข้อมูล </a:t>
            </a:r>
            <a:r>
              <a:rPr lang="en-US" sz="2800" b="1" dirty="0">
                <a:solidFill>
                  <a:srgbClr val="002060"/>
                </a:solidFill>
              </a:rPr>
              <a:t>(Group By)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A8E464E-684B-8284-C012-444B8546D5D5}"/>
              </a:ext>
            </a:extLst>
          </p:cNvPr>
          <p:cNvSpPr/>
          <p:nvPr/>
        </p:nvSpPr>
        <p:spPr>
          <a:xfrm>
            <a:off x="10782300" y="3219450"/>
            <a:ext cx="342900" cy="590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3AEED-5968-2D83-8A12-B5617E2676AB}"/>
              </a:ext>
            </a:extLst>
          </p:cNvPr>
          <p:cNvSpPr txBox="1"/>
          <p:nvPr/>
        </p:nvSpPr>
        <p:spPr>
          <a:xfrm>
            <a:off x="3295650" y="66408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2.3  Query Group By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049231D-DC74-27CC-E7E7-8ADF4F726ED2}"/>
              </a:ext>
            </a:extLst>
          </p:cNvPr>
          <p:cNvSpPr/>
          <p:nvPr/>
        </p:nvSpPr>
        <p:spPr>
          <a:xfrm rot="16200000">
            <a:off x="6545724" y="5635217"/>
            <a:ext cx="342900" cy="590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6C3DA-4CCB-5F05-D627-3C2616B98243}"/>
              </a:ext>
            </a:extLst>
          </p:cNvPr>
          <p:cNvSpPr txBox="1"/>
          <p:nvPr/>
        </p:nvSpPr>
        <p:spPr>
          <a:xfrm>
            <a:off x="4632821" y="5787563"/>
            <a:ext cx="1758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Total</a:t>
            </a:r>
            <a:r>
              <a:rPr lang="th-TH" sz="1800" b="1" dirty="0">
                <a:solidFill>
                  <a:srgbClr val="002060"/>
                </a:solidFill>
              </a:rPr>
              <a:t> </a:t>
            </a:r>
            <a:r>
              <a:rPr lang="en-US" sz="1800" b="1" dirty="0">
                <a:solidFill>
                  <a:srgbClr val="002060"/>
                </a:solidFill>
              </a:rPr>
              <a:t>(Group By)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B45AC-A574-FB6E-1125-784C1E789B3C}"/>
              </a:ext>
            </a:extLst>
          </p:cNvPr>
          <p:cNvSpPr txBox="1"/>
          <p:nvPr/>
        </p:nvSpPr>
        <p:spPr>
          <a:xfrm>
            <a:off x="10348879" y="6146529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4BDFD-7525-220D-02A3-0F8CF004DABA}"/>
              </a:ext>
            </a:extLst>
          </p:cNvPr>
          <p:cNvSpPr txBox="1"/>
          <p:nvPr/>
        </p:nvSpPr>
        <p:spPr>
          <a:xfrm>
            <a:off x="3739653" y="6268372"/>
            <a:ext cx="287582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สรุปกลุ่มข้อมูลที่ไม่ซ้ำกัน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213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ACA5F-77BE-4F7A-B6A7-78A65A3E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4" y="114087"/>
            <a:ext cx="3452986" cy="4233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43A83-2D96-411E-8AA2-331DB75A4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64" y="4625204"/>
            <a:ext cx="3133894" cy="2023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1D2D56-ECC4-4B88-9C7F-7B0BDB85B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05" y="92018"/>
            <a:ext cx="3504171" cy="4511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BDCBE7-CB0D-447B-A995-58853A9DF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978" y="1769550"/>
            <a:ext cx="2073144" cy="4057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C3F2D-B3FD-49C7-A2EB-8557A189F4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4396"/>
          <a:stretch/>
        </p:blipFill>
        <p:spPr>
          <a:xfrm>
            <a:off x="4209507" y="152187"/>
            <a:ext cx="876843" cy="14884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1E2CA7-1B0E-43BD-95E3-5FD700F249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200" y="4803460"/>
            <a:ext cx="3821395" cy="166694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135FD7-E0CC-4EEA-B786-0FB51D2A7154}"/>
              </a:ext>
            </a:extLst>
          </p:cNvPr>
          <p:cNvCxnSpPr>
            <a:cxnSpLocks/>
          </p:cNvCxnSpPr>
          <p:nvPr/>
        </p:nvCxnSpPr>
        <p:spPr>
          <a:xfrm>
            <a:off x="8401050" y="3676650"/>
            <a:ext cx="1323975" cy="4572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716EED-4073-413A-9424-10936619BD23}"/>
              </a:ext>
            </a:extLst>
          </p:cNvPr>
          <p:cNvSpPr txBox="1"/>
          <p:nvPr/>
        </p:nvSpPr>
        <p:spPr>
          <a:xfrm>
            <a:off x="8401050" y="480638"/>
            <a:ext cx="367021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การคำนวนในกลุ่มข้อมูล </a:t>
            </a:r>
            <a:r>
              <a:rPr lang="en-US" sz="2800" b="1" dirty="0">
                <a:solidFill>
                  <a:srgbClr val="002060"/>
                </a:solidFill>
              </a:rPr>
              <a:t>(Group By)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8D1ABB-722E-9A48-F44D-C260D2E4564D}"/>
              </a:ext>
            </a:extLst>
          </p:cNvPr>
          <p:cNvSpPr txBox="1"/>
          <p:nvPr/>
        </p:nvSpPr>
        <p:spPr>
          <a:xfrm>
            <a:off x="8551043" y="41228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2.3  Query Group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D85F5-30CE-A727-27A4-61667735A0F7}"/>
              </a:ext>
            </a:extLst>
          </p:cNvPr>
          <p:cNvSpPr txBox="1"/>
          <p:nvPr/>
        </p:nvSpPr>
        <p:spPr>
          <a:xfrm>
            <a:off x="7553177" y="973080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519F7-EB0D-9E0A-C6BF-A9828470E65B}"/>
              </a:ext>
            </a:extLst>
          </p:cNvPr>
          <p:cNvSpPr txBox="1"/>
          <p:nvPr/>
        </p:nvSpPr>
        <p:spPr>
          <a:xfrm>
            <a:off x="3486231" y="6284649"/>
            <a:ext cx="287582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สรุปจำนวนในแต่กลุ่ม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273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F7973-3061-A2A5-50DD-8E75F4C1B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46" y="5573949"/>
            <a:ext cx="8933959" cy="1108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04A4C0-686C-4168-B196-F70331E85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88" y="584099"/>
            <a:ext cx="7694809" cy="4552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A719A5-8045-9FDC-96D6-BCF9DD083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620" y="1805499"/>
            <a:ext cx="7735380" cy="142894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0010A74-3222-059C-0B1F-C60F4D70915E}"/>
              </a:ext>
            </a:extLst>
          </p:cNvPr>
          <p:cNvSpPr/>
          <p:nvPr/>
        </p:nvSpPr>
        <p:spPr>
          <a:xfrm>
            <a:off x="7529209" y="2003898"/>
            <a:ext cx="2811293" cy="1332689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855BC9-B008-10B6-B7AE-256BB6C6BBB2}"/>
              </a:ext>
            </a:extLst>
          </p:cNvPr>
          <p:cNvSpPr/>
          <p:nvPr/>
        </p:nvSpPr>
        <p:spPr>
          <a:xfrm>
            <a:off x="5019704" y="5800725"/>
            <a:ext cx="5533996" cy="952701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35A47C-535E-2551-817A-F9B2B39B48ED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7786702" y="3336587"/>
            <a:ext cx="1148154" cy="24641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A918CB-4E34-FFD6-168E-73F656CE87E7}"/>
              </a:ext>
            </a:extLst>
          </p:cNvPr>
          <p:cNvSpPr txBox="1"/>
          <p:nvPr/>
        </p:nvSpPr>
        <p:spPr>
          <a:xfrm>
            <a:off x="180975" y="123558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2.4  Query </a:t>
            </a:r>
            <a:r>
              <a:rPr lang="en-US" sz="1800" u="sng" dirty="0" err="1">
                <a:solidFill>
                  <a:schemeClr val="bg1"/>
                </a:solidFill>
              </a:rPr>
              <a:t>Crss</a:t>
            </a:r>
            <a:r>
              <a:rPr lang="en-US" sz="1800" u="sng" dirty="0">
                <a:solidFill>
                  <a:schemeClr val="bg1"/>
                </a:solidFill>
              </a:rPr>
              <a:t> Tab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D2C060-1886-9E81-6122-3F98FBF7A06E}"/>
              </a:ext>
            </a:extLst>
          </p:cNvPr>
          <p:cNvSpPr txBox="1"/>
          <p:nvPr/>
        </p:nvSpPr>
        <p:spPr>
          <a:xfrm>
            <a:off x="8640799" y="308224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1.10</a:t>
            </a:r>
          </a:p>
        </p:txBody>
      </p:sp>
    </p:spTree>
    <p:extLst>
      <p:ext uri="{BB962C8B-B14F-4D97-AF65-F5344CB8AC3E}">
        <p14:creationId xmlns:p14="http://schemas.microsoft.com/office/powerpoint/2010/main" val="2524573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9417021-3B06-AA13-638E-DB3C203F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78" y="2349851"/>
            <a:ext cx="4474230" cy="3528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6506F4-9231-C763-397F-A478C7083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400" y="1980519"/>
            <a:ext cx="6306430" cy="4877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72FAC-7692-E5B6-26C6-3719EDEB8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26" y="456306"/>
            <a:ext cx="7287642" cy="15242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5A15A6-9A70-9FFB-F418-1046D1D93786}"/>
              </a:ext>
            </a:extLst>
          </p:cNvPr>
          <p:cNvSpPr txBox="1"/>
          <p:nvPr/>
        </p:nvSpPr>
        <p:spPr>
          <a:xfrm>
            <a:off x="235726" y="86974"/>
            <a:ext cx="5023323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2.4  Query </a:t>
            </a:r>
            <a:r>
              <a:rPr lang="en-US" sz="1800" u="sng" dirty="0" err="1">
                <a:solidFill>
                  <a:schemeClr val="bg1"/>
                </a:solidFill>
              </a:rPr>
              <a:t>Crss</a:t>
            </a:r>
            <a:r>
              <a:rPr lang="en-US" sz="1800" u="sng" dirty="0">
                <a:solidFill>
                  <a:schemeClr val="bg1"/>
                </a:solidFill>
              </a:rPr>
              <a:t> Tab (Create / Query Wizard)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AD7A0C-C615-38B7-D200-84FE19142D38}"/>
              </a:ext>
            </a:extLst>
          </p:cNvPr>
          <p:cNvSpPr txBox="1"/>
          <p:nvPr/>
        </p:nvSpPr>
        <p:spPr>
          <a:xfrm>
            <a:off x="8640799" y="308224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1.10</a:t>
            </a:r>
          </a:p>
        </p:txBody>
      </p:sp>
    </p:spTree>
    <p:extLst>
      <p:ext uri="{BB962C8B-B14F-4D97-AF65-F5344CB8AC3E}">
        <p14:creationId xmlns:p14="http://schemas.microsoft.com/office/powerpoint/2010/main" val="1599451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557A4F-4CC1-175A-B167-EA458713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06" y="763153"/>
            <a:ext cx="6306430" cy="4810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9682A4-A8A4-AE39-0DE3-F4E7CAD56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646" y="5573949"/>
            <a:ext cx="8933959" cy="11085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1C0B07-CAD6-2414-8365-CCB87259A6F3}"/>
              </a:ext>
            </a:extLst>
          </p:cNvPr>
          <p:cNvSpPr/>
          <p:nvPr/>
        </p:nvSpPr>
        <p:spPr>
          <a:xfrm>
            <a:off x="1720395" y="5856051"/>
            <a:ext cx="3386626" cy="853836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BF7A7-B233-8051-8479-4A89BCDF11A2}"/>
              </a:ext>
            </a:extLst>
          </p:cNvPr>
          <p:cNvSpPr txBox="1"/>
          <p:nvPr/>
        </p:nvSpPr>
        <p:spPr>
          <a:xfrm>
            <a:off x="235726" y="86974"/>
            <a:ext cx="6306430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2.4  Query </a:t>
            </a:r>
            <a:r>
              <a:rPr lang="en-US" sz="1800" u="sng" dirty="0" err="1">
                <a:solidFill>
                  <a:schemeClr val="bg1"/>
                </a:solidFill>
              </a:rPr>
              <a:t>Crss</a:t>
            </a:r>
            <a:r>
              <a:rPr lang="en-US" sz="1800" u="sng" dirty="0">
                <a:solidFill>
                  <a:schemeClr val="bg1"/>
                </a:solidFill>
              </a:rPr>
              <a:t> Tab (Create / Query Wizard)  Row 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64C78-97BA-C169-3B97-6B31F04B2953}"/>
              </a:ext>
            </a:extLst>
          </p:cNvPr>
          <p:cNvSpPr txBox="1"/>
          <p:nvPr/>
        </p:nvSpPr>
        <p:spPr>
          <a:xfrm>
            <a:off x="8640799" y="308224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1.10</a:t>
            </a:r>
          </a:p>
        </p:txBody>
      </p:sp>
    </p:spTree>
    <p:extLst>
      <p:ext uri="{BB962C8B-B14F-4D97-AF65-F5344CB8AC3E}">
        <p14:creationId xmlns:p14="http://schemas.microsoft.com/office/powerpoint/2010/main" val="2447337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9D8FAA-6B5D-F047-BD75-B050ACB6C7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527"/>
          <a:stretch/>
        </p:blipFill>
        <p:spPr>
          <a:xfrm>
            <a:off x="508100" y="456306"/>
            <a:ext cx="5107021" cy="4829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C5BABC-ECD6-B6D9-4013-4ACF86A07E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182"/>
          <a:stretch/>
        </p:blipFill>
        <p:spPr>
          <a:xfrm>
            <a:off x="6096000" y="705188"/>
            <a:ext cx="5003259" cy="48489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6BE055-8D20-2246-4863-E4790A2C0906}"/>
              </a:ext>
            </a:extLst>
          </p:cNvPr>
          <p:cNvSpPr txBox="1"/>
          <p:nvPr/>
        </p:nvSpPr>
        <p:spPr>
          <a:xfrm>
            <a:off x="235726" y="86974"/>
            <a:ext cx="6306430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2.4  Query </a:t>
            </a:r>
            <a:r>
              <a:rPr lang="en-US" sz="1800" u="sng" dirty="0" err="1">
                <a:solidFill>
                  <a:schemeClr val="bg1"/>
                </a:solidFill>
              </a:rPr>
              <a:t>Crss</a:t>
            </a:r>
            <a:r>
              <a:rPr lang="en-US" sz="1800" u="sng" dirty="0">
                <a:solidFill>
                  <a:schemeClr val="bg1"/>
                </a:solidFill>
              </a:rPr>
              <a:t> Tab (Create / Query Wizard)  Column Header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79825-F0FD-8302-8DED-39EF7AB01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646" y="5573949"/>
            <a:ext cx="8933959" cy="11085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6F5A5C-AE76-7823-34E0-52161931F495}"/>
              </a:ext>
            </a:extLst>
          </p:cNvPr>
          <p:cNvSpPr/>
          <p:nvPr/>
        </p:nvSpPr>
        <p:spPr>
          <a:xfrm>
            <a:off x="5008344" y="5841884"/>
            <a:ext cx="5555894" cy="317966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91568-9390-7F93-57DA-D53510117A7F}"/>
              </a:ext>
            </a:extLst>
          </p:cNvPr>
          <p:cNvSpPr txBox="1"/>
          <p:nvPr/>
        </p:nvSpPr>
        <p:spPr>
          <a:xfrm>
            <a:off x="9231349" y="165620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1.10</a:t>
            </a:r>
          </a:p>
        </p:txBody>
      </p:sp>
    </p:spTree>
    <p:extLst>
      <p:ext uri="{BB962C8B-B14F-4D97-AF65-F5344CB8AC3E}">
        <p14:creationId xmlns:p14="http://schemas.microsoft.com/office/powerpoint/2010/main" val="522622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8C9F30-9CE6-65EE-D578-652C99DE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6" y="793277"/>
            <a:ext cx="6239746" cy="4839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B67E2D-C8F1-C104-C1FA-C78B94CB2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305"/>
          <a:stretch/>
        </p:blipFill>
        <p:spPr>
          <a:xfrm>
            <a:off x="7412142" y="1480394"/>
            <a:ext cx="4277113" cy="33106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54EF42-0101-65EC-AA1C-27452093A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646" y="5573949"/>
            <a:ext cx="8933959" cy="11085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74885D-BBF9-8930-6B12-0D5622DAAC0C}"/>
              </a:ext>
            </a:extLst>
          </p:cNvPr>
          <p:cNvSpPr/>
          <p:nvPr/>
        </p:nvSpPr>
        <p:spPr>
          <a:xfrm>
            <a:off x="5008344" y="6128204"/>
            <a:ext cx="5463261" cy="55425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95D71D-4FBD-3B50-F956-C305CA182D30}"/>
              </a:ext>
            </a:extLst>
          </p:cNvPr>
          <p:cNvSpPr txBox="1"/>
          <p:nvPr/>
        </p:nvSpPr>
        <p:spPr>
          <a:xfrm>
            <a:off x="235726" y="86974"/>
            <a:ext cx="6306430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2.4  Query </a:t>
            </a:r>
            <a:r>
              <a:rPr lang="en-US" sz="1800" u="sng" dirty="0" err="1">
                <a:solidFill>
                  <a:schemeClr val="bg1"/>
                </a:solidFill>
              </a:rPr>
              <a:t>Crss</a:t>
            </a:r>
            <a:r>
              <a:rPr lang="en-US" sz="1800" u="sng" dirty="0">
                <a:solidFill>
                  <a:schemeClr val="bg1"/>
                </a:solidFill>
              </a:rPr>
              <a:t> Tab (Create / Query Wizard)  Data In Column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0E239-358B-62F6-16F0-2571B0CBF7FF}"/>
              </a:ext>
            </a:extLst>
          </p:cNvPr>
          <p:cNvSpPr txBox="1"/>
          <p:nvPr/>
        </p:nvSpPr>
        <p:spPr>
          <a:xfrm>
            <a:off x="8640799" y="308224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1.10</a:t>
            </a:r>
          </a:p>
        </p:txBody>
      </p:sp>
    </p:spTree>
    <p:extLst>
      <p:ext uri="{BB962C8B-B14F-4D97-AF65-F5344CB8AC3E}">
        <p14:creationId xmlns:p14="http://schemas.microsoft.com/office/powerpoint/2010/main" val="3572098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900BF-29DA-438E-80C8-AD2EF50E1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9" y="608797"/>
            <a:ext cx="2724150" cy="4036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79CAE7-14E2-4A64-A4F2-FD5A5E593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75" y="608797"/>
            <a:ext cx="3322483" cy="4597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36E076-B2FF-7FEE-C5C6-CED4D082BD4C}"/>
              </a:ext>
            </a:extLst>
          </p:cNvPr>
          <p:cNvSpPr txBox="1"/>
          <p:nvPr/>
        </p:nvSpPr>
        <p:spPr>
          <a:xfrm>
            <a:off x="3295650" y="66408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2.3  Query Group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7D67A-7DE8-4E15-60A3-E5461C6FEC64}"/>
              </a:ext>
            </a:extLst>
          </p:cNvPr>
          <p:cNvSpPr txBox="1"/>
          <p:nvPr/>
        </p:nvSpPr>
        <p:spPr>
          <a:xfrm>
            <a:off x="10130200" y="93418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6F2A1-C5D4-505C-53F9-6FF8461B7A11}"/>
              </a:ext>
            </a:extLst>
          </p:cNvPr>
          <p:cNvSpPr txBox="1"/>
          <p:nvPr/>
        </p:nvSpPr>
        <p:spPr>
          <a:xfrm>
            <a:off x="3790056" y="5392642"/>
            <a:ext cx="287582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สรุปกลุ่มข้อมูลพนักงานที่ใช้ในแต่ละงานผลิต </a:t>
            </a:r>
            <a:r>
              <a:rPr lang="en-US" sz="2800" b="1" dirty="0">
                <a:solidFill>
                  <a:srgbClr val="002060"/>
                </a:solidFill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AFB144-57FD-902C-1612-23EC13EAC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801" y="608797"/>
            <a:ext cx="4041499" cy="4506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8AFB9A-740E-37FC-5DFA-8C5C9C57E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537" y="4551994"/>
            <a:ext cx="3997831" cy="174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00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15CE0D-A6F8-16B8-0A8A-3E6EECD895CA}"/>
              </a:ext>
            </a:extLst>
          </p:cNvPr>
          <p:cNvSpPr txBox="1"/>
          <p:nvPr/>
        </p:nvSpPr>
        <p:spPr>
          <a:xfrm>
            <a:off x="247650" y="2616614"/>
            <a:ext cx="116966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Student</a:t>
            </a:r>
          </a:p>
          <a:p>
            <a:r>
              <a:rPr lang="en-US" sz="2400" dirty="0"/>
              <a:t>   	- </a:t>
            </a:r>
            <a:r>
              <a:rPr lang="en-US" sz="2400" dirty="0" err="1"/>
              <a:t>StudentCode</a:t>
            </a:r>
            <a:r>
              <a:rPr lang="en-US" sz="2400" dirty="0"/>
              <a:t> , </a:t>
            </a:r>
            <a:r>
              <a:rPr lang="en-US" sz="2400" dirty="0" err="1"/>
              <a:t>StudentName</a:t>
            </a:r>
            <a:r>
              <a:rPr lang="en-US" sz="2400" dirty="0"/>
              <a:t> , </a:t>
            </a:r>
            <a:r>
              <a:rPr lang="en-US" sz="2400" dirty="0" err="1"/>
              <a:t>EntranceYear</a:t>
            </a:r>
            <a:endParaRPr lang="en-US" sz="2400" dirty="0"/>
          </a:p>
          <a:p>
            <a:r>
              <a:rPr lang="en-US" sz="2400" dirty="0"/>
              <a:t>Course</a:t>
            </a:r>
          </a:p>
          <a:p>
            <a:r>
              <a:rPr lang="en-US" sz="2400" dirty="0"/>
              <a:t>   	- </a:t>
            </a:r>
            <a:r>
              <a:rPr lang="en-US" sz="2400" dirty="0" err="1"/>
              <a:t>CourseCode</a:t>
            </a:r>
            <a:r>
              <a:rPr lang="en-US" sz="2400" dirty="0"/>
              <a:t> , </a:t>
            </a:r>
            <a:r>
              <a:rPr lang="en-US" sz="2400" dirty="0" err="1"/>
              <a:t>CourseName</a:t>
            </a:r>
            <a:endParaRPr lang="en-US" sz="2400" dirty="0"/>
          </a:p>
          <a:p>
            <a:r>
              <a:rPr lang="en-US" sz="2400" dirty="0"/>
              <a:t>Teacher</a:t>
            </a:r>
          </a:p>
          <a:p>
            <a:r>
              <a:rPr lang="en-US" sz="2400" dirty="0"/>
              <a:t>  	- </a:t>
            </a:r>
            <a:r>
              <a:rPr lang="en-US" sz="2400" dirty="0" err="1"/>
              <a:t>TeacherCode</a:t>
            </a:r>
            <a:r>
              <a:rPr lang="en-US" sz="2400" dirty="0"/>
              <a:t> , </a:t>
            </a:r>
            <a:r>
              <a:rPr lang="en-US" sz="2400" dirty="0" err="1"/>
              <a:t>TeacherName</a:t>
            </a:r>
            <a:endParaRPr lang="en-US" sz="2400" dirty="0"/>
          </a:p>
          <a:p>
            <a:r>
              <a:rPr lang="en-US" sz="2400" dirty="0" err="1"/>
              <a:t>OpenCourse</a:t>
            </a:r>
            <a:endParaRPr lang="en-US" sz="2400" dirty="0"/>
          </a:p>
          <a:p>
            <a:r>
              <a:rPr lang="en-US" sz="2400" dirty="0"/>
              <a:t>	-</a:t>
            </a:r>
            <a:r>
              <a:rPr lang="en-US" sz="2400" dirty="0" err="1"/>
              <a:t>CourseID</a:t>
            </a:r>
            <a:r>
              <a:rPr lang="en-US" sz="2400" dirty="0"/>
              <a:t> ,</a:t>
            </a:r>
            <a:r>
              <a:rPr lang="en-US" sz="2400" dirty="0" err="1"/>
              <a:t>CourseCode</a:t>
            </a:r>
            <a:r>
              <a:rPr lang="en-US" sz="2400" dirty="0"/>
              <a:t> ,</a:t>
            </a:r>
            <a:r>
              <a:rPr lang="en-US" sz="2400" dirty="0" err="1"/>
              <a:t>TeacherCode</a:t>
            </a:r>
            <a:r>
              <a:rPr lang="en-US" sz="2400" dirty="0"/>
              <a:t> , StartDate , </a:t>
            </a:r>
            <a:r>
              <a:rPr lang="en-US" sz="2400" dirty="0" err="1"/>
              <a:t>EndDate</a:t>
            </a:r>
            <a:r>
              <a:rPr lang="en-US" sz="2400" dirty="0"/>
              <a:t> , </a:t>
            </a:r>
            <a:r>
              <a:rPr lang="en-US" sz="2400" dirty="0" err="1"/>
              <a:t>EduYear</a:t>
            </a:r>
            <a:endParaRPr lang="en-US" sz="2400" dirty="0"/>
          </a:p>
          <a:p>
            <a:r>
              <a:rPr lang="en-US" sz="2400" dirty="0" err="1"/>
              <a:t>OpenCourseDetail</a:t>
            </a:r>
            <a:r>
              <a:rPr lang="en-US" sz="2400" dirty="0"/>
              <a:t> </a:t>
            </a:r>
          </a:p>
          <a:p>
            <a:r>
              <a:rPr lang="en-US" sz="2400" dirty="0"/>
              <a:t>	- </a:t>
            </a:r>
            <a:r>
              <a:rPr lang="en-US" sz="2400" dirty="0" err="1"/>
              <a:t>CourseID</a:t>
            </a:r>
            <a:r>
              <a:rPr lang="en-US" sz="2400" dirty="0"/>
              <a:t> , </a:t>
            </a:r>
            <a:r>
              <a:rPr lang="en-US" sz="2400" dirty="0" err="1"/>
              <a:t>StudentCode</a:t>
            </a:r>
            <a:r>
              <a:rPr lang="en-US" sz="2400" dirty="0"/>
              <a:t> , </a:t>
            </a:r>
            <a:r>
              <a:rPr lang="en-US" sz="2400" dirty="0" err="1"/>
              <a:t>Grand,Score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48FE3-7DD8-32EC-6CE7-0A440E85D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95" y="431368"/>
            <a:ext cx="9266810" cy="2185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5121C5-B3BE-0BA6-7F28-2E937A616FF6}"/>
              </a:ext>
            </a:extLst>
          </p:cNvPr>
          <p:cNvSpPr txBox="1"/>
          <p:nvPr/>
        </p:nvSpPr>
        <p:spPr>
          <a:xfrm>
            <a:off x="304800" y="31258"/>
            <a:ext cx="356235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Lab 1.1  Create / Table Design</a:t>
            </a:r>
          </a:p>
        </p:txBody>
      </p:sp>
    </p:spTree>
    <p:extLst>
      <p:ext uri="{BB962C8B-B14F-4D97-AF65-F5344CB8AC3E}">
        <p14:creationId xmlns:p14="http://schemas.microsoft.com/office/powerpoint/2010/main" val="1700924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77B9A-6362-EB66-EA89-D2324A9C4D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05" b="10083"/>
          <a:stretch/>
        </p:blipFill>
        <p:spPr>
          <a:xfrm>
            <a:off x="5245135" y="548770"/>
            <a:ext cx="7200865" cy="1836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C5CD2B-9D55-78C4-8244-3DAABDFE2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93" y="2709037"/>
            <a:ext cx="4650933" cy="1714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34B96A-4A3B-C90D-E1E8-085FF8588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05" y="4705380"/>
            <a:ext cx="6427788" cy="1836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956BD3-141B-3E11-E4D9-AD2F94586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493" y="5107608"/>
            <a:ext cx="4906754" cy="14342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4B76F2-AC47-29E1-F7F1-FA2B1D8654FC}"/>
              </a:ext>
            </a:extLst>
          </p:cNvPr>
          <p:cNvSpPr txBox="1"/>
          <p:nvPr/>
        </p:nvSpPr>
        <p:spPr>
          <a:xfrm>
            <a:off x="1622" y="29095"/>
            <a:ext cx="3913153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u="sng" dirty="0">
                <a:solidFill>
                  <a:schemeClr val="bg1"/>
                </a:solidFill>
              </a:rPr>
              <a:t>Lab 1.1 Design and </a:t>
            </a:r>
            <a:r>
              <a:rPr lang="en-US" sz="2000" u="sng" dirty="0" err="1">
                <a:solidFill>
                  <a:schemeClr val="bg1"/>
                </a:solidFill>
              </a:rPr>
              <a:t>Ceate</a:t>
            </a:r>
            <a:r>
              <a:rPr lang="en-US" sz="2000" u="sng" dirty="0">
                <a:solidFill>
                  <a:schemeClr val="bg1"/>
                </a:solidFill>
              </a:rPr>
              <a:t> Tables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6BA2A-4400-260F-A646-F5637F7CE6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404" y="437881"/>
            <a:ext cx="4900125" cy="2052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394046-4A63-B12D-F773-6131077C68D1}"/>
              </a:ext>
            </a:extLst>
          </p:cNvPr>
          <p:cNvSpPr txBox="1"/>
          <p:nvPr/>
        </p:nvSpPr>
        <p:spPr>
          <a:xfrm>
            <a:off x="4068986" y="1781209"/>
            <a:ext cx="1844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Single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FBACDB-823C-B084-C26D-72DD6F1DE3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64" y="2720469"/>
            <a:ext cx="5294628" cy="17147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B022F4-0F80-CF1D-10E7-E20215985851}"/>
              </a:ext>
            </a:extLst>
          </p:cNvPr>
          <p:cNvSpPr txBox="1"/>
          <p:nvPr/>
        </p:nvSpPr>
        <p:spPr>
          <a:xfrm>
            <a:off x="10242951" y="85276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1.11</a:t>
            </a:r>
          </a:p>
        </p:txBody>
      </p:sp>
    </p:spTree>
    <p:extLst>
      <p:ext uri="{BB962C8B-B14F-4D97-AF65-F5344CB8AC3E}">
        <p14:creationId xmlns:p14="http://schemas.microsoft.com/office/powerpoint/2010/main" val="3104839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3ACFA0-6723-B8DB-C3BC-5FD6FA9D3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28" y="5467156"/>
            <a:ext cx="8326012" cy="1390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691DE9-F26A-FB4C-4A9B-55DF14FD83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17"/>
          <a:stretch/>
        </p:blipFill>
        <p:spPr>
          <a:xfrm>
            <a:off x="801613" y="544854"/>
            <a:ext cx="9226900" cy="49223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288950-E998-890D-0709-979BD7C92B8E}"/>
              </a:ext>
            </a:extLst>
          </p:cNvPr>
          <p:cNvSpPr txBox="1"/>
          <p:nvPr/>
        </p:nvSpPr>
        <p:spPr>
          <a:xfrm>
            <a:off x="1622" y="29095"/>
            <a:ext cx="3370228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u="sng" dirty="0">
                <a:solidFill>
                  <a:schemeClr val="bg1"/>
                </a:solidFill>
              </a:rPr>
              <a:t>Lab 1.1 Create / Query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5C122E-9034-E842-E5B3-DC0C0542CB65}"/>
              </a:ext>
            </a:extLst>
          </p:cNvPr>
          <p:cNvSpPr txBox="1"/>
          <p:nvPr/>
        </p:nvSpPr>
        <p:spPr>
          <a:xfrm>
            <a:off x="10337055" y="314021"/>
            <a:ext cx="158115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Lab 1.12</a:t>
            </a:r>
          </a:p>
        </p:txBody>
      </p:sp>
    </p:spTree>
    <p:extLst>
      <p:ext uri="{BB962C8B-B14F-4D97-AF65-F5344CB8AC3E}">
        <p14:creationId xmlns:p14="http://schemas.microsoft.com/office/powerpoint/2010/main" val="324851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808</Words>
  <Application>Microsoft Office PowerPoint</Application>
  <PresentationFormat>Widescreen</PresentationFormat>
  <Paragraphs>148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Angsana New</vt:lpstr>
      <vt:lpstr>Arial</vt:lpstr>
      <vt:lpstr>Calibri</vt:lpstr>
      <vt:lpstr>Calibri Light</vt:lpstr>
      <vt:lpstr>Consolas</vt:lpstr>
      <vt:lpstr>Cordia New</vt:lpstr>
      <vt:lpstr>Wingdings</vt:lpstr>
      <vt:lpstr>Office Theme</vt:lpstr>
      <vt:lpstr>Bitmap Image</vt:lpstr>
      <vt:lpstr>PowerPoint Presentation</vt:lpstr>
      <vt:lpstr>จุดประสงค์ในการออกแบบฐานข้อมูล</vt:lpstr>
      <vt:lpstr>PowerPoint Presentation</vt:lpstr>
      <vt:lpstr>PowerPoint Presentation</vt:lpstr>
      <vt:lpstr>ชนิดคีย์ในฐานข้อมูล</vt:lpstr>
      <vt:lpstr>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Production Note  Lab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Chalermchon Visayadamrong</dc:creator>
  <cp:lastModifiedBy>Chalermchon Visayadamrong</cp:lastModifiedBy>
  <cp:revision>75</cp:revision>
  <cp:lastPrinted>2023-01-19T06:13:08Z</cp:lastPrinted>
  <dcterms:created xsi:type="dcterms:W3CDTF">2021-05-09T17:14:31Z</dcterms:created>
  <dcterms:modified xsi:type="dcterms:W3CDTF">2026-02-12T02:20:59Z</dcterms:modified>
</cp:coreProperties>
</file>